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" panose="020B0503030501040103" pitchFamily="34" charset="0"/>
      <p:regular r:id="rId15"/>
    </p:embeddedFont>
    <p:embeddedFont>
      <p:font typeface="DM Sans" pitchFamily="2" charset="77"/>
      <p:regular r:id="rId16"/>
      <p:bold r:id="rId17"/>
      <p:italic r:id="rId18"/>
      <p:boldItalic r:id="rId19"/>
    </p:embeddedFont>
    <p:embeddedFont>
      <p:font typeface="DM Sans Bold" pitchFamily="2" charset="77"/>
      <p:regular r:id="rId20"/>
      <p:bold r:id="rId21"/>
    </p:embeddedFont>
    <p:embeddedFont>
      <p:font typeface="DM Sans Italics" pitchFamily="2" charset="77"/>
      <p:regular r:id="rId22"/>
      <p:italic r:id="rId23"/>
    </p:embeddedFont>
    <p:embeddedFont>
      <p:font typeface="Telegraf Bold" pitchFamily="2" charset="77"/>
      <p:regular r:id="rId24"/>
      <p:bold r:id="rId25"/>
    </p:embeddedFont>
    <p:embeddedFont>
      <p:font typeface="TT Fors" panose="020B0003030001020000" pitchFamily="34" charset="0"/>
      <p:regular r:id="rId26"/>
    </p:embeddedFont>
    <p:embeddedFont>
      <p:font typeface="TT Fors Bold" panose="020B0003030001020000" pitchFamily="34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2" autoAdjust="0"/>
  </p:normalViewPr>
  <p:slideViewPr>
    <p:cSldViewPr>
      <p:cViewPr varScale="1">
        <p:scale>
          <a:sx n="61" d="100"/>
          <a:sy n="61" d="100"/>
        </p:scale>
        <p:origin x="66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kcp-technologies.aha.io/bookmarks/roadmaps/7574113798618798674/757564846184921496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3.basecamp.com/6076110/projects/44813742" TargetMode="Externa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GangtieAda/Group001_project-Smart-Campus-Energy-Management-System" TargetMode="External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18" Type="http://schemas.openxmlformats.org/officeDocument/2006/relationships/image" Target="../media/image63.pn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17" Type="http://schemas.openxmlformats.org/officeDocument/2006/relationships/image" Target="../media/image62.sv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5" Type="http://schemas.openxmlformats.org/officeDocument/2006/relationships/image" Target="../media/image60.svg"/><Relationship Id="rId10" Type="http://schemas.openxmlformats.org/officeDocument/2006/relationships/image" Target="../media/image55.png"/><Relationship Id="rId19" Type="http://schemas.openxmlformats.org/officeDocument/2006/relationships/image" Target="../media/image64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Relationship Id="rId1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8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1.png"/><Relationship Id="rId4" Type="http://schemas.openxmlformats.org/officeDocument/2006/relationships/image" Target="../media/image6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22222"/>
            <a:ext cx="12014384" cy="438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1">
                <a:solidFill>
                  <a:srgbClr val="F68D56"/>
                </a:solidFill>
                <a:latin typeface="DM Sans Bold"/>
                <a:ea typeface="DM Sans Bold"/>
                <a:cs typeface="DM Sans Bold"/>
                <a:sym typeface="DM Sans Bold"/>
              </a:rPr>
              <a:t>Smart Campus </a:t>
            </a:r>
          </a:p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Energy Management System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426020" cy="709930"/>
            <a:chOff x="0" y="0"/>
            <a:chExt cx="4568027" cy="9465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6955627">
            <a:off x="12420600" y="-1620148"/>
            <a:ext cx="10466775" cy="9401067"/>
          </a:xfrm>
          <a:custGeom>
            <a:avLst/>
            <a:gdLst/>
            <a:ahLst/>
            <a:cxnLst/>
            <a:rect l="l" t="t" r="r" b="b"/>
            <a:pathLst>
              <a:path w="10466775" h="9401067">
                <a:moveTo>
                  <a:pt x="0" y="0"/>
                </a:moveTo>
                <a:lnTo>
                  <a:pt x="10466775" y="0"/>
                </a:lnTo>
                <a:lnTo>
                  <a:pt x="10466775" y="9401066"/>
                </a:lnTo>
                <a:lnTo>
                  <a:pt x="0" y="94010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7" name="TextBox 7"/>
          <p:cNvSpPr txBox="1"/>
          <p:nvPr/>
        </p:nvSpPr>
        <p:spPr>
          <a:xfrm>
            <a:off x="1028700" y="7778115"/>
            <a:ext cx="241132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Group - 001</a:t>
            </a:r>
          </a:p>
          <a:p>
            <a:pPr algn="l">
              <a:lnSpc>
                <a:spcPts val="2940"/>
              </a:lnSpc>
            </a:pPr>
            <a:r>
              <a:rPr lang="en-US" sz="2100" i="1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Kayode Babalola</a:t>
            </a:r>
          </a:p>
          <a:p>
            <a:pPr algn="l">
              <a:lnSpc>
                <a:spcPts val="2940"/>
              </a:lnSpc>
            </a:pPr>
            <a:r>
              <a:rPr lang="en-US" sz="2100" i="1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Qianru Deng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1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Priyanka Sharma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78376" y="4070016"/>
            <a:ext cx="6664549" cy="6054888"/>
          </a:xfrm>
          <a:custGeom>
            <a:avLst/>
            <a:gdLst/>
            <a:ahLst/>
            <a:cxnLst/>
            <a:rect l="l" t="t" r="r" b="b"/>
            <a:pathLst>
              <a:path w="6664549" h="6054888">
                <a:moveTo>
                  <a:pt x="0" y="0"/>
                </a:moveTo>
                <a:lnTo>
                  <a:pt x="6664549" y="0"/>
                </a:lnTo>
                <a:lnTo>
                  <a:pt x="6664549" y="6054888"/>
                </a:lnTo>
                <a:lnTo>
                  <a:pt x="0" y="6054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3755" r="-39690"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3" name="Freeform 3"/>
          <p:cNvSpPr/>
          <p:nvPr/>
        </p:nvSpPr>
        <p:spPr>
          <a:xfrm>
            <a:off x="13007166" y="-676699"/>
            <a:ext cx="6475172" cy="5946773"/>
          </a:xfrm>
          <a:custGeom>
            <a:avLst/>
            <a:gdLst/>
            <a:ahLst/>
            <a:cxnLst/>
            <a:rect l="l" t="t" r="r" b="b"/>
            <a:pathLst>
              <a:path w="6475172" h="5946773">
                <a:moveTo>
                  <a:pt x="0" y="0"/>
                </a:moveTo>
                <a:lnTo>
                  <a:pt x="6475171" y="0"/>
                </a:lnTo>
                <a:lnTo>
                  <a:pt x="6475171" y="5946773"/>
                </a:lnTo>
                <a:lnTo>
                  <a:pt x="0" y="59467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6550" r="-43775"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4" name="Group 4"/>
          <p:cNvGrpSpPr/>
          <p:nvPr/>
        </p:nvGrpSpPr>
        <p:grpSpPr>
          <a:xfrm>
            <a:off x="800375" y="2335126"/>
            <a:ext cx="740162" cy="572839"/>
            <a:chOff x="0" y="0"/>
            <a:chExt cx="194940" cy="1508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940" cy="150871"/>
            </a:xfrm>
            <a:custGeom>
              <a:avLst/>
              <a:gdLst/>
              <a:ahLst/>
              <a:cxnLst/>
              <a:rect l="l" t="t" r="r" b="b"/>
              <a:pathLst>
                <a:path w="194940" h="150871">
                  <a:moveTo>
                    <a:pt x="75436" y="0"/>
                  </a:moveTo>
                  <a:lnTo>
                    <a:pt x="119504" y="0"/>
                  </a:lnTo>
                  <a:cubicBezTo>
                    <a:pt x="139511" y="0"/>
                    <a:pt x="158698" y="7948"/>
                    <a:pt x="172845" y="22095"/>
                  </a:cubicBezTo>
                  <a:cubicBezTo>
                    <a:pt x="186992" y="36242"/>
                    <a:pt x="194940" y="55429"/>
                    <a:pt x="194940" y="75436"/>
                  </a:cubicBezTo>
                  <a:lnTo>
                    <a:pt x="194940" y="75436"/>
                  </a:lnTo>
                  <a:cubicBezTo>
                    <a:pt x="194940" y="95442"/>
                    <a:pt x="186992" y="114630"/>
                    <a:pt x="172845" y="128777"/>
                  </a:cubicBezTo>
                  <a:cubicBezTo>
                    <a:pt x="158698" y="142924"/>
                    <a:pt x="139511" y="150871"/>
                    <a:pt x="119504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4940" cy="188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0375" y="3357632"/>
            <a:ext cx="740162" cy="597535"/>
            <a:chOff x="0" y="0"/>
            <a:chExt cx="194940" cy="157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4940" cy="157375"/>
            </a:xfrm>
            <a:custGeom>
              <a:avLst/>
              <a:gdLst/>
              <a:ahLst/>
              <a:cxnLst/>
              <a:rect l="l" t="t" r="r" b="b"/>
              <a:pathLst>
                <a:path w="194940" h="157375">
                  <a:moveTo>
                    <a:pt x="78688" y="0"/>
                  </a:moveTo>
                  <a:lnTo>
                    <a:pt x="116252" y="0"/>
                  </a:lnTo>
                  <a:cubicBezTo>
                    <a:pt x="137121" y="0"/>
                    <a:pt x="157136" y="8290"/>
                    <a:pt x="171893" y="23047"/>
                  </a:cubicBezTo>
                  <a:cubicBezTo>
                    <a:pt x="186649" y="37804"/>
                    <a:pt x="194940" y="57818"/>
                    <a:pt x="194940" y="78688"/>
                  </a:cubicBezTo>
                  <a:lnTo>
                    <a:pt x="194940" y="78688"/>
                  </a:lnTo>
                  <a:cubicBezTo>
                    <a:pt x="194940" y="99557"/>
                    <a:pt x="186649" y="119572"/>
                    <a:pt x="171893" y="134328"/>
                  </a:cubicBezTo>
                  <a:cubicBezTo>
                    <a:pt x="157136" y="149085"/>
                    <a:pt x="137121" y="157375"/>
                    <a:pt x="116252" y="157375"/>
                  </a:cubicBezTo>
                  <a:lnTo>
                    <a:pt x="78688" y="157375"/>
                  </a:lnTo>
                  <a:cubicBezTo>
                    <a:pt x="57818" y="157375"/>
                    <a:pt x="37804" y="149085"/>
                    <a:pt x="23047" y="134328"/>
                  </a:cubicBezTo>
                  <a:cubicBezTo>
                    <a:pt x="8290" y="119572"/>
                    <a:pt x="0" y="99557"/>
                    <a:pt x="0" y="78688"/>
                  </a:cubicBezTo>
                  <a:lnTo>
                    <a:pt x="0" y="78688"/>
                  </a:lnTo>
                  <a:cubicBezTo>
                    <a:pt x="0" y="57818"/>
                    <a:pt x="8290" y="37804"/>
                    <a:pt x="23047" y="23047"/>
                  </a:cubicBezTo>
                  <a:cubicBezTo>
                    <a:pt x="37804" y="8290"/>
                    <a:pt x="57818" y="0"/>
                    <a:pt x="78688" y="0"/>
                  </a:cubicBezTo>
                  <a:close/>
                </a:path>
              </a:pathLst>
            </a:custGeom>
            <a:solidFill>
              <a:srgbClr val="3D62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4940" cy="1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375" y="4402842"/>
            <a:ext cx="740162" cy="597535"/>
            <a:chOff x="0" y="0"/>
            <a:chExt cx="194940" cy="1573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4940" cy="157375"/>
            </a:xfrm>
            <a:custGeom>
              <a:avLst/>
              <a:gdLst/>
              <a:ahLst/>
              <a:cxnLst/>
              <a:rect l="l" t="t" r="r" b="b"/>
              <a:pathLst>
                <a:path w="194940" h="157375">
                  <a:moveTo>
                    <a:pt x="78688" y="0"/>
                  </a:moveTo>
                  <a:lnTo>
                    <a:pt x="116252" y="0"/>
                  </a:lnTo>
                  <a:cubicBezTo>
                    <a:pt x="137121" y="0"/>
                    <a:pt x="157136" y="8290"/>
                    <a:pt x="171893" y="23047"/>
                  </a:cubicBezTo>
                  <a:cubicBezTo>
                    <a:pt x="186649" y="37804"/>
                    <a:pt x="194940" y="57818"/>
                    <a:pt x="194940" y="78688"/>
                  </a:cubicBezTo>
                  <a:lnTo>
                    <a:pt x="194940" y="78688"/>
                  </a:lnTo>
                  <a:cubicBezTo>
                    <a:pt x="194940" y="99557"/>
                    <a:pt x="186649" y="119572"/>
                    <a:pt x="171893" y="134328"/>
                  </a:cubicBezTo>
                  <a:cubicBezTo>
                    <a:pt x="157136" y="149085"/>
                    <a:pt x="137121" y="157375"/>
                    <a:pt x="116252" y="157375"/>
                  </a:cubicBezTo>
                  <a:lnTo>
                    <a:pt x="78688" y="157375"/>
                  </a:lnTo>
                  <a:cubicBezTo>
                    <a:pt x="57818" y="157375"/>
                    <a:pt x="37804" y="149085"/>
                    <a:pt x="23047" y="134328"/>
                  </a:cubicBezTo>
                  <a:cubicBezTo>
                    <a:pt x="8290" y="119572"/>
                    <a:pt x="0" y="99557"/>
                    <a:pt x="0" y="78688"/>
                  </a:cubicBezTo>
                  <a:lnTo>
                    <a:pt x="0" y="78688"/>
                  </a:lnTo>
                  <a:cubicBezTo>
                    <a:pt x="0" y="57818"/>
                    <a:pt x="8290" y="37804"/>
                    <a:pt x="23047" y="23047"/>
                  </a:cubicBezTo>
                  <a:cubicBezTo>
                    <a:pt x="37804" y="8290"/>
                    <a:pt x="57818" y="0"/>
                    <a:pt x="78688" y="0"/>
                  </a:cubicBezTo>
                  <a:close/>
                </a:path>
              </a:pathLst>
            </a:custGeom>
            <a:solidFill>
              <a:srgbClr val="BEC8DA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4940" cy="1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375" y="5530720"/>
            <a:ext cx="740162" cy="597535"/>
            <a:chOff x="0" y="0"/>
            <a:chExt cx="194940" cy="1573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4940" cy="157375"/>
            </a:xfrm>
            <a:custGeom>
              <a:avLst/>
              <a:gdLst/>
              <a:ahLst/>
              <a:cxnLst/>
              <a:rect l="l" t="t" r="r" b="b"/>
              <a:pathLst>
                <a:path w="194940" h="157375">
                  <a:moveTo>
                    <a:pt x="78688" y="0"/>
                  </a:moveTo>
                  <a:lnTo>
                    <a:pt x="116252" y="0"/>
                  </a:lnTo>
                  <a:cubicBezTo>
                    <a:pt x="137121" y="0"/>
                    <a:pt x="157136" y="8290"/>
                    <a:pt x="171893" y="23047"/>
                  </a:cubicBezTo>
                  <a:cubicBezTo>
                    <a:pt x="186649" y="37804"/>
                    <a:pt x="194940" y="57818"/>
                    <a:pt x="194940" y="78688"/>
                  </a:cubicBezTo>
                  <a:lnTo>
                    <a:pt x="194940" y="78688"/>
                  </a:lnTo>
                  <a:cubicBezTo>
                    <a:pt x="194940" y="99557"/>
                    <a:pt x="186649" y="119572"/>
                    <a:pt x="171893" y="134328"/>
                  </a:cubicBezTo>
                  <a:cubicBezTo>
                    <a:pt x="157136" y="149085"/>
                    <a:pt x="137121" y="157375"/>
                    <a:pt x="116252" y="157375"/>
                  </a:cubicBezTo>
                  <a:lnTo>
                    <a:pt x="78688" y="157375"/>
                  </a:lnTo>
                  <a:cubicBezTo>
                    <a:pt x="57818" y="157375"/>
                    <a:pt x="37804" y="149085"/>
                    <a:pt x="23047" y="134328"/>
                  </a:cubicBezTo>
                  <a:cubicBezTo>
                    <a:pt x="8290" y="119572"/>
                    <a:pt x="0" y="99557"/>
                    <a:pt x="0" y="78688"/>
                  </a:cubicBezTo>
                  <a:lnTo>
                    <a:pt x="0" y="78688"/>
                  </a:lnTo>
                  <a:cubicBezTo>
                    <a:pt x="0" y="57818"/>
                    <a:pt x="8290" y="37804"/>
                    <a:pt x="23047" y="23047"/>
                  </a:cubicBezTo>
                  <a:cubicBezTo>
                    <a:pt x="37804" y="8290"/>
                    <a:pt x="57818" y="0"/>
                    <a:pt x="78688" y="0"/>
                  </a:cubicBezTo>
                  <a:close/>
                </a:path>
              </a:pathLst>
            </a:custGeom>
            <a:solidFill>
              <a:srgbClr val="F47D3D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94940" cy="1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70215" y="2335126"/>
            <a:ext cx="740162" cy="572839"/>
            <a:chOff x="0" y="0"/>
            <a:chExt cx="194940" cy="1508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4940" cy="150871"/>
            </a:xfrm>
            <a:custGeom>
              <a:avLst/>
              <a:gdLst/>
              <a:ahLst/>
              <a:cxnLst/>
              <a:rect l="l" t="t" r="r" b="b"/>
              <a:pathLst>
                <a:path w="194940" h="150871">
                  <a:moveTo>
                    <a:pt x="75436" y="0"/>
                  </a:moveTo>
                  <a:lnTo>
                    <a:pt x="119504" y="0"/>
                  </a:lnTo>
                  <a:cubicBezTo>
                    <a:pt x="139511" y="0"/>
                    <a:pt x="158698" y="7948"/>
                    <a:pt x="172845" y="22095"/>
                  </a:cubicBezTo>
                  <a:cubicBezTo>
                    <a:pt x="186992" y="36242"/>
                    <a:pt x="194940" y="55429"/>
                    <a:pt x="194940" y="75436"/>
                  </a:cubicBezTo>
                  <a:lnTo>
                    <a:pt x="194940" y="75436"/>
                  </a:lnTo>
                  <a:cubicBezTo>
                    <a:pt x="194940" y="95442"/>
                    <a:pt x="186992" y="114630"/>
                    <a:pt x="172845" y="128777"/>
                  </a:cubicBezTo>
                  <a:cubicBezTo>
                    <a:pt x="158698" y="142924"/>
                    <a:pt x="139511" y="150871"/>
                    <a:pt x="119504" y="150871"/>
                  </a:cubicBezTo>
                  <a:lnTo>
                    <a:pt x="75436" y="150871"/>
                  </a:lnTo>
                  <a:cubicBezTo>
                    <a:pt x="55429" y="150871"/>
                    <a:pt x="36242" y="142924"/>
                    <a:pt x="22095" y="128777"/>
                  </a:cubicBezTo>
                  <a:cubicBezTo>
                    <a:pt x="7948" y="114630"/>
                    <a:pt x="0" y="95442"/>
                    <a:pt x="0" y="75436"/>
                  </a:cubicBezTo>
                  <a:lnTo>
                    <a:pt x="0" y="75436"/>
                  </a:lnTo>
                  <a:cubicBezTo>
                    <a:pt x="0" y="55429"/>
                    <a:pt x="7948" y="36242"/>
                    <a:pt x="22095" y="22095"/>
                  </a:cubicBezTo>
                  <a:cubicBezTo>
                    <a:pt x="36242" y="7948"/>
                    <a:pt x="55429" y="0"/>
                    <a:pt x="75436" y="0"/>
                  </a:cubicBezTo>
                  <a:close/>
                </a:path>
              </a:pathLst>
            </a:custGeom>
            <a:solidFill>
              <a:srgbClr val="F69D6E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94940" cy="188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70215" y="3357632"/>
            <a:ext cx="740162" cy="597535"/>
            <a:chOff x="0" y="0"/>
            <a:chExt cx="194940" cy="1573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4940" cy="157375"/>
            </a:xfrm>
            <a:custGeom>
              <a:avLst/>
              <a:gdLst/>
              <a:ahLst/>
              <a:cxnLst/>
              <a:rect l="l" t="t" r="r" b="b"/>
              <a:pathLst>
                <a:path w="194940" h="157375">
                  <a:moveTo>
                    <a:pt x="78688" y="0"/>
                  </a:moveTo>
                  <a:lnTo>
                    <a:pt x="116252" y="0"/>
                  </a:lnTo>
                  <a:cubicBezTo>
                    <a:pt x="137121" y="0"/>
                    <a:pt x="157136" y="8290"/>
                    <a:pt x="171893" y="23047"/>
                  </a:cubicBezTo>
                  <a:cubicBezTo>
                    <a:pt x="186649" y="37804"/>
                    <a:pt x="194940" y="57818"/>
                    <a:pt x="194940" y="78688"/>
                  </a:cubicBezTo>
                  <a:lnTo>
                    <a:pt x="194940" y="78688"/>
                  </a:lnTo>
                  <a:cubicBezTo>
                    <a:pt x="194940" y="99557"/>
                    <a:pt x="186649" y="119572"/>
                    <a:pt x="171893" y="134328"/>
                  </a:cubicBezTo>
                  <a:cubicBezTo>
                    <a:pt x="157136" y="149085"/>
                    <a:pt x="137121" y="157375"/>
                    <a:pt x="116252" y="157375"/>
                  </a:cubicBezTo>
                  <a:lnTo>
                    <a:pt x="78688" y="157375"/>
                  </a:lnTo>
                  <a:cubicBezTo>
                    <a:pt x="57818" y="157375"/>
                    <a:pt x="37804" y="149085"/>
                    <a:pt x="23047" y="134328"/>
                  </a:cubicBezTo>
                  <a:cubicBezTo>
                    <a:pt x="8290" y="119572"/>
                    <a:pt x="0" y="99557"/>
                    <a:pt x="0" y="78688"/>
                  </a:cubicBezTo>
                  <a:lnTo>
                    <a:pt x="0" y="78688"/>
                  </a:lnTo>
                  <a:cubicBezTo>
                    <a:pt x="0" y="57818"/>
                    <a:pt x="8290" y="37804"/>
                    <a:pt x="23047" y="23047"/>
                  </a:cubicBezTo>
                  <a:cubicBezTo>
                    <a:pt x="37804" y="8290"/>
                    <a:pt x="57818" y="0"/>
                    <a:pt x="78688" y="0"/>
                  </a:cubicBezTo>
                  <a:close/>
                </a:path>
              </a:pathLst>
            </a:custGeom>
            <a:solidFill>
              <a:srgbClr val="F4C0A4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94940" cy="1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198265" y="815547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23" name="Freeform 23"/>
          <p:cNvSpPr/>
          <p:nvPr/>
        </p:nvSpPr>
        <p:spPr>
          <a:xfrm>
            <a:off x="11777275" y="652907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24" name="Freeform 24"/>
          <p:cNvSpPr/>
          <p:nvPr/>
        </p:nvSpPr>
        <p:spPr>
          <a:xfrm>
            <a:off x="13106400" y="4918586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25" name="Freeform 25"/>
          <p:cNvSpPr/>
          <p:nvPr/>
        </p:nvSpPr>
        <p:spPr>
          <a:xfrm>
            <a:off x="14573250" y="3357632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6" name="Freeform 26"/>
          <p:cNvSpPr/>
          <p:nvPr/>
        </p:nvSpPr>
        <p:spPr>
          <a:xfrm>
            <a:off x="15911377" y="1680327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7" name="Freeform 27"/>
          <p:cNvSpPr/>
          <p:nvPr/>
        </p:nvSpPr>
        <p:spPr>
          <a:xfrm>
            <a:off x="17335500" y="285750"/>
            <a:ext cx="711200" cy="666750"/>
          </a:xfrm>
          <a:custGeom>
            <a:avLst/>
            <a:gdLst/>
            <a:ahLst/>
            <a:cxnLst/>
            <a:rect l="l" t="t" r="r" b="b"/>
            <a:pathLst>
              <a:path w="711200" h="666750">
                <a:moveTo>
                  <a:pt x="0" y="0"/>
                </a:moveTo>
                <a:lnTo>
                  <a:pt x="711200" y="0"/>
                </a:lnTo>
                <a:lnTo>
                  <a:pt x="7112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Box 28"/>
          <p:cNvSpPr txBox="1"/>
          <p:nvPr/>
        </p:nvSpPr>
        <p:spPr>
          <a:xfrm>
            <a:off x="800375" y="7491895"/>
            <a:ext cx="380365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Agenda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93546" y="2394851"/>
            <a:ext cx="32451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Overview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3614" y="2410539"/>
            <a:ext cx="653685" cy="40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93546" y="3429704"/>
            <a:ext cx="308116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Scope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3614" y="3457740"/>
            <a:ext cx="653685" cy="40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93546" y="4472370"/>
            <a:ext cx="267476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Risks, Limitations and Assumptions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3614" y="4502950"/>
            <a:ext cx="653685" cy="405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122359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93546" y="5598978"/>
            <a:ext cx="308116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Financial Summary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3614" y="5630828"/>
            <a:ext cx="653685" cy="40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122359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05652" y="2394851"/>
            <a:ext cx="267476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Methodology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13454" y="2410539"/>
            <a:ext cx="653685" cy="40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122359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67552" y="3457778"/>
            <a:ext cx="348756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 Roadmap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913454" y="3457740"/>
            <a:ext cx="653685" cy="40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122359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849782" y="4498092"/>
            <a:ext cx="740162" cy="584953"/>
            <a:chOff x="0" y="0"/>
            <a:chExt cx="194940" cy="15406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94940" cy="154062"/>
            </a:xfrm>
            <a:custGeom>
              <a:avLst/>
              <a:gdLst/>
              <a:ahLst/>
              <a:cxnLst/>
              <a:rect l="l" t="t" r="r" b="b"/>
              <a:pathLst>
                <a:path w="194940" h="154062">
                  <a:moveTo>
                    <a:pt x="77031" y="0"/>
                  </a:moveTo>
                  <a:lnTo>
                    <a:pt x="117909" y="0"/>
                  </a:lnTo>
                  <a:cubicBezTo>
                    <a:pt x="138339" y="0"/>
                    <a:pt x="157932" y="8116"/>
                    <a:pt x="172378" y="22562"/>
                  </a:cubicBezTo>
                  <a:cubicBezTo>
                    <a:pt x="186824" y="37008"/>
                    <a:pt x="194940" y="56601"/>
                    <a:pt x="194940" y="77031"/>
                  </a:cubicBezTo>
                  <a:lnTo>
                    <a:pt x="194940" y="77031"/>
                  </a:lnTo>
                  <a:cubicBezTo>
                    <a:pt x="194940" y="97461"/>
                    <a:pt x="186824" y="117054"/>
                    <a:pt x="172378" y="131500"/>
                  </a:cubicBezTo>
                  <a:cubicBezTo>
                    <a:pt x="157932" y="145946"/>
                    <a:pt x="138339" y="154062"/>
                    <a:pt x="117909" y="154062"/>
                  </a:cubicBezTo>
                  <a:lnTo>
                    <a:pt x="77031" y="154062"/>
                  </a:lnTo>
                  <a:cubicBezTo>
                    <a:pt x="56601" y="154062"/>
                    <a:pt x="37008" y="145946"/>
                    <a:pt x="22562" y="131500"/>
                  </a:cubicBezTo>
                  <a:cubicBezTo>
                    <a:pt x="8116" y="117054"/>
                    <a:pt x="0" y="97461"/>
                    <a:pt x="0" y="77031"/>
                  </a:cubicBezTo>
                  <a:lnTo>
                    <a:pt x="0" y="77031"/>
                  </a:lnTo>
                  <a:cubicBezTo>
                    <a:pt x="0" y="56601"/>
                    <a:pt x="8116" y="37008"/>
                    <a:pt x="22562" y="22562"/>
                  </a:cubicBezTo>
                  <a:cubicBezTo>
                    <a:pt x="37008" y="8116"/>
                    <a:pt x="56601" y="0"/>
                    <a:pt x="77031" y="0"/>
                  </a:cubicBezTo>
                  <a:close/>
                </a:path>
              </a:pathLst>
            </a:custGeom>
            <a:solidFill>
              <a:srgbClr val="E8DED6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94940" cy="192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847119" y="4563874"/>
            <a:ext cx="559690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Plan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93020" y="4585618"/>
            <a:ext cx="653685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122359"/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849782" y="5558775"/>
            <a:ext cx="740162" cy="597535"/>
            <a:chOff x="0" y="0"/>
            <a:chExt cx="194940" cy="15737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4940" cy="157375"/>
            </a:xfrm>
            <a:custGeom>
              <a:avLst/>
              <a:gdLst/>
              <a:ahLst/>
              <a:cxnLst/>
              <a:rect l="l" t="t" r="r" b="b"/>
              <a:pathLst>
                <a:path w="194940" h="157375">
                  <a:moveTo>
                    <a:pt x="78688" y="0"/>
                  </a:moveTo>
                  <a:lnTo>
                    <a:pt x="116252" y="0"/>
                  </a:lnTo>
                  <a:cubicBezTo>
                    <a:pt x="137121" y="0"/>
                    <a:pt x="157136" y="8290"/>
                    <a:pt x="171893" y="23047"/>
                  </a:cubicBezTo>
                  <a:cubicBezTo>
                    <a:pt x="186649" y="37804"/>
                    <a:pt x="194940" y="57818"/>
                    <a:pt x="194940" y="78688"/>
                  </a:cubicBezTo>
                  <a:lnTo>
                    <a:pt x="194940" y="78688"/>
                  </a:lnTo>
                  <a:cubicBezTo>
                    <a:pt x="194940" y="99557"/>
                    <a:pt x="186649" y="119572"/>
                    <a:pt x="171893" y="134328"/>
                  </a:cubicBezTo>
                  <a:cubicBezTo>
                    <a:pt x="157136" y="149085"/>
                    <a:pt x="137121" y="157375"/>
                    <a:pt x="116252" y="157375"/>
                  </a:cubicBezTo>
                  <a:lnTo>
                    <a:pt x="78688" y="157375"/>
                  </a:lnTo>
                  <a:cubicBezTo>
                    <a:pt x="57818" y="157375"/>
                    <a:pt x="37804" y="149085"/>
                    <a:pt x="23047" y="134328"/>
                  </a:cubicBezTo>
                  <a:cubicBezTo>
                    <a:pt x="8290" y="119572"/>
                    <a:pt x="0" y="99557"/>
                    <a:pt x="0" y="78688"/>
                  </a:cubicBezTo>
                  <a:lnTo>
                    <a:pt x="0" y="78688"/>
                  </a:lnTo>
                  <a:cubicBezTo>
                    <a:pt x="0" y="57818"/>
                    <a:pt x="8290" y="37804"/>
                    <a:pt x="23047" y="23047"/>
                  </a:cubicBezTo>
                  <a:cubicBezTo>
                    <a:pt x="37804" y="8290"/>
                    <a:pt x="57818" y="0"/>
                    <a:pt x="78688" y="0"/>
                  </a:cubicBezTo>
                  <a:close/>
                </a:path>
              </a:pathLst>
            </a:custGeom>
            <a:solidFill>
              <a:srgbClr val="FBF6E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94940" cy="1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799180" y="5600386"/>
            <a:ext cx="395839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893020" y="5658883"/>
            <a:ext cx="653685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122359"/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43614" y="1028700"/>
            <a:ext cx="3426020" cy="709930"/>
            <a:chOff x="0" y="0"/>
            <a:chExt cx="4568027" cy="94657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849782" y="6632560"/>
            <a:ext cx="740162" cy="597535"/>
            <a:chOff x="0" y="0"/>
            <a:chExt cx="194940" cy="15737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94940" cy="157375"/>
            </a:xfrm>
            <a:custGeom>
              <a:avLst/>
              <a:gdLst/>
              <a:ahLst/>
              <a:cxnLst/>
              <a:rect l="l" t="t" r="r" b="b"/>
              <a:pathLst>
                <a:path w="194940" h="157375">
                  <a:moveTo>
                    <a:pt x="78688" y="0"/>
                  </a:moveTo>
                  <a:lnTo>
                    <a:pt x="116252" y="0"/>
                  </a:lnTo>
                  <a:cubicBezTo>
                    <a:pt x="137121" y="0"/>
                    <a:pt x="157136" y="8290"/>
                    <a:pt x="171893" y="23047"/>
                  </a:cubicBezTo>
                  <a:cubicBezTo>
                    <a:pt x="186649" y="37804"/>
                    <a:pt x="194940" y="57818"/>
                    <a:pt x="194940" y="78688"/>
                  </a:cubicBezTo>
                  <a:lnTo>
                    <a:pt x="194940" y="78688"/>
                  </a:lnTo>
                  <a:cubicBezTo>
                    <a:pt x="194940" y="99557"/>
                    <a:pt x="186649" y="119572"/>
                    <a:pt x="171893" y="134328"/>
                  </a:cubicBezTo>
                  <a:cubicBezTo>
                    <a:pt x="157136" y="149085"/>
                    <a:pt x="137121" y="157375"/>
                    <a:pt x="116252" y="157375"/>
                  </a:cubicBezTo>
                  <a:lnTo>
                    <a:pt x="78688" y="157375"/>
                  </a:lnTo>
                  <a:cubicBezTo>
                    <a:pt x="57818" y="157375"/>
                    <a:pt x="37804" y="149085"/>
                    <a:pt x="23047" y="134328"/>
                  </a:cubicBezTo>
                  <a:cubicBezTo>
                    <a:pt x="8290" y="119572"/>
                    <a:pt x="0" y="99557"/>
                    <a:pt x="0" y="78688"/>
                  </a:cubicBezTo>
                  <a:lnTo>
                    <a:pt x="0" y="78688"/>
                  </a:lnTo>
                  <a:cubicBezTo>
                    <a:pt x="0" y="57818"/>
                    <a:pt x="8290" y="37804"/>
                    <a:pt x="23047" y="23047"/>
                  </a:cubicBezTo>
                  <a:cubicBezTo>
                    <a:pt x="37804" y="8290"/>
                    <a:pt x="57818" y="0"/>
                    <a:pt x="7868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94940" cy="1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6799180" y="6674171"/>
            <a:ext cx="278123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 &amp; Deleverables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893020" y="6732668"/>
            <a:ext cx="653685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122359"/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40401" y="1671955"/>
            <a:ext cx="1285072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Overview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1311315" y="4235288"/>
            <a:ext cx="7309582" cy="837279"/>
          </a:xfrm>
          <a:custGeom>
            <a:avLst/>
            <a:gdLst/>
            <a:ahLst/>
            <a:cxnLst/>
            <a:rect l="l" t="t" r="r" b="b"/>
            <a:pathLst>
              <a:path w="7309582" h="837279">
                <a:moveTo>
                  <a:pt x="0" y="0"/>
                </a:moveTo>
                <a:lnTo>
                  <a:pt x="7309582" y="0"/>
                </a:lnTo>
                <a:lnTo>
                  <a:pt x="7309582" y="837280"/>
                </a:lnTo>
                <a:lnTo>
                  <a:pt x="0" y="8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4" name="Group 4"/>
          <p:cNvGrpSpPr/>
          <p:nvPr/>
        </p:nvGrpSpPr>
        <p:grpSpPr>
          <a:xfrm>
            <a:off x="1072222" y="3070589"/>
            <a:ext cx="16187078" cy="1544547"/>
            <a:chOff x="0" y="0"/>
            <a:chExt cx="4263263" cy="4067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63263" cy="406794"/>
            </a:xfrm>
            <a:custGeom>
              <a:avLst/>
              <a:gdLst/>
              <a:ahLst/>
              <a:cxnLst/>
              <a:rect l="l" t="t" r="r" b="b"/>
              <a:pathLst>
                <a:path w="4263263" h="406794">
                  <a:moveTo>
                    <a:pt x="12435" y="0"/>
                  </a:moveTo>
                  <a:lnTo>
                    <a:pt x="4250828" y="0"/>
                  </a:lnTo>
                  <a:cubicBezTo>
                    <a:pt x="4257696" y="0"/>
                    <a:pt x="4263263" y="5567"/>
                    <a:pt x="4263263" y="12435"/>
                  </a:cubicBezTo>
                  <a:lnTo>
                    <a:pt x="4263263" y="394359"/>
                  </a:lnTo>
                  <a:cubicBezTo>
                    <a:pt x="4263263" y="401227"/>
                    <a:pt x="4257696" y="406794"/>
                    <a:pt x="4250828" y="406794"/>
                  </a:cubicBezTo>
                  <a:lnTo>
                    <a:pt x="12435" y="406794"/>
                  </a:lnTo>
                  <a:cubicBezTo>
                    <a:pt x="5567" y="406794"/>
                    <a:pt x="0" y="401227"/>
                    <a:pt x="0" y="394359"/>
                  </a:cubicBezTo>
                  <a:lnTo>
                    <a:pt x="0" y="12435"/>
                  </a:lnTo>
                  <a:cubicBezTo>
                    <a:pt x="0" y="5567"/>
                    <a:pt x="5567" y="0"/>
                    <a:pt x="124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63263" cy="444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0754" y="2683514"/>
            <a:ext cx="577920" cy="387075"/>
            <a:chOff x="0" y="0"/>
            <a:chExt cx="812800" cy="5443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000" y="205129"/>
              <a:ext cx="558800" cy="300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2500" y="2667000"/>
            <a:ext cx="1129472" cy="1002058"/>
            <a:chOff x="0" y="0"/>
            <a:chExt cx="1316929" cy="1168368"/>
          </a:xfrm>
        </p:grpSpPr>
        <p:sp>
          <p:nvSpPr>
            <p:cNvPr id="11" name="Freeform 11"/>
            <p:cNvSpPr/>
            <p:nvPr/>
          </p:nvSpPr>
          <p:spPr>
            <a:xfrm>
              <a:off x="14159" y="0"/>
              <a:ext cx="1288610" cy="1168368"/>
            </a:xfrm>
            <a:custGeom>
              <a:avLst/>
              <a:gdLst/>
              <a:ahLst/>
              <a:cxnLst/>
              <a:rect l="l" t="t" r="r" b="b"/>
              <a:pathLst>
                <a:path w="1288610" h="1168368">
                  <a:moveTo>
                    <a:pt x="278149" y="0"/>
                  </a:moveTo>
                  <a:lnTo>
                    <a:pt x="1213662" y="0"/>
                  </a:lnTo>
                  <a:cubicBezTo>
                    <a:pt x="1235785" y="0"/>
                    <a:pt x="1256779" y="9774"/>
                    <a:pt x="1271019" y="26705"/>
                  </a:cubicBezTo>
                  <a:cubicBezTo>
                    <a:pt x="1285260" y="43636"/>
                    <a:pt x="1291292" y="65994"/>
                    <a:pt x="1287502" y="87790"/>
                  </a:cubicBezTo>
                  <a:lnTo>
                    <a:pt x="1114838" y="1080578"/>
                  </a:lnTo>
                  <a:cubicBezTo>
                    <a:pt x="1106013" y="1131323"/>
                    <a:pt x="1061969" y="1168368"/>
                    <a:pt x="1010462" y="1168368"/>
                  </a:cubicBezTo>
                  <a:lnTo>
                    <a:pt x="74949" y="1168368"/>
                  </a:lnTo>
                  <a:cubicBezTo>
                    <a:pt x="52825" y="1168368"/>
                    <a:pt x="31832" y="1158594"/>
                    <a:pt x="17592" y="1141663"/>
                  </a:cubicBezTo>
                  <a:cubicBezTo>
                    <a:pt x="3351" y="1124732"/>
                    <a:pt x="-2681" y="1102375"/>
                    <a:pt x="1109" y="1080578"/>
                  </a:cubicBezTo>
                  <a:lnTo>
                    <a:pt x="173773" y="87790"/>
                  </a:lnTo>
                  <a:cubicBezTo>
                    <a:pt x="182598" y="37045"/>
                    <a:pt x="226642" y="0"/>
                    <a:pt x="278149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00" y="-66675"/>
              <a:ext cx="1113729" cy="1235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 u="none" strike="noStrik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98133" y="3702750"/>
            <a:ext cx="14626051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project aims to develop a Smart Campus Energy Management System for energy auditing, real-time monitoring via sensors and dashboards, and campus-wide sustainability education.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98133" y="3280033"/>
            <a:ext cx="4144269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Background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11315" y="6461504"/>
            <a:ext cx="7309582" cy="837279"/>
          </a:xfrm>
          <a:custGeom>
            <a:avLst/>
            <a:gdLst/>
            <a:ahLst/>
            <a:cxnLst/>
            <a:rect l="l" t="t" r="r" b="b"/>
            <a:pathLst>
              <a:path w="7309582" h="837279">
                <a:moveTo>
                  <a:pt x="0" y="0"/>
                </a:moveTo>
                <a:lnTo>
                  <a:pt x="7309582" y="0"/>
                </a:lnTo>
                <a:lnTo>
                  <a:pt x="7309582" y="837280"/>
                </a:lnTo>
                <a:lnTo>
                  <a:pt x="0" y="8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16" name="Group 16"/>
          <p:cNvGrpSpPr/>
          <p:nvPr/>
        </p:nvGrpSpPr>
        <p:grpSpPr>
          <a:xfrm>
            <a:off x="1072222" y="5296806"/>
            <a:ext cx="12935878" cy="1544547"/>
            <a:chOff x="0" y="0"/>
            <a:chExt cx="3406980" cy="4067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06980" cy="406794"/>
            </a:xfrm>
            <a:custGeom>
              <a:avLst/>
              <a:gdLst/>
              <a:ahLst/>
              <a:cxnLst/>
              <a:rect l="l" t="t" r="r" b="b"/>
              <a:pathLst>
                <a:path w="3406980" h="406794">
                  <a:moveTo>
                    <a:pt x="15561" y="0"/>
                  </a:moveTo>
                  <a:lnTo>
                    <a:pt x="3391420" y="0"/>
                  </a:lnTo>
                  <a:cubicBezTo>
                    <a:pt x="3395547" y="0"/>
                    <a:pt x="3399505" y="1639"/>
                    <a:pt x="3402423" y="4558"/>
                  </a:cubicBezTo>
                  <a:cubicBezTo>
                    <a:pt x="3405341" y="7476"/>
                    <a:pt x="3406980" y="11434"/>
                    <a:pt x="3406980" y="15561"/>
                  </a:cubicBezTo>
                  <a:lnTo>
                    <a:pt x="3406980" y="391234"/>
                  </a:lnTo>
                  <a:cubicBezTo>
                    <a:pt x="3406980" y="399828"/>
                    <a:pt x="3400014" y="406794"/>
                    <a:pt x="3391420" y="406794"/>
                  </a:cubicBezTo>
                  <a:lnTo>
                    <a:pt x="15561" y="406794"/>
                  </a:lnTo>
                  <a:cubicBezTo>
                    <a:pt x="11434" y="406794"/>
                    <a:pt x="7476" y="405155"/>
                    <a:pt x="4558" y="402237"/>
                  </a:cubicBezTo>
                  <a:cubicBezTo>
                    <a:pt x="1639" y="399318"/>
                    <a:pt x="0" y="395361"/>
                    <a:pt x="0" y="391234"/>
                  </a:cubicBezTo>
                  <a:lnTo>
                    <a:pt x="0" y="15561"/>
                  </a:lnTo>
                  <a:cubicBezTo>
                    <a:pt x="0" y="6967"/>
                    <a:pt x="6967" y="0"/>
                    <a:pt x="155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406980" cy="444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30754" y="4909730"/>
            <a:ext cx="577920" cy="387075"/>
            <a:chOff x="0" y="0"/>
            <a:chExt cx="812800" cy="5443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05129"/>
              <a:ext cx="558800" cy="300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2500" y="4893216"/>
            <a:ext cx="1129472" cy="1012284"/>
            <a:chOff x="0" y="0"/>
            <a:chExt cx="1316929" cy="1180291"/>
          </a:xfrm>
        </p:grpSpPr>
        <p:sp>
          <p:nvSpPr>
            <p:cNvPr id="23" name="Freeform 23"/>
            <p:cNvSpPr/>
            <p:nvPr/>
          </p:nvSpPr>
          <p:spPr>
            <a:xfrm>
              <a:off x="14029" y="0"/>
              <a:ext cx="1288870" cy="1180291"/>
            </a:xfrm>
            <a:custGeom>
              <a:avLst/>
              <a:gdLst/>
              <a:ahLst/>
              <a:cxnLst/>
              <a:rect l="l" t="t" r="r" b="b"/>
              <a:pathLst>
                <a:path w="1288870" h="1180291">
                  <a:moveTo>
                    <a:pt x="278279" y="0"/>
                  </a:moveTo>
                  <a:lnTo>
                    <a:pt x="1213792" y="0"/>
                  </a:lnTo>
                  <a:cubicBezTo>
                    <a:pt x="1235931" y="0"/>
                    <a:pt x="1256942" y="9772"/>
                    <a:pt x="1271207" y="26703"/>
                  </a:cubicBezTo>
                  <a:cubicBezTo>
                    <a:pt x="1285473" y="43634"/>
                    <a:pt x="1291538" y="65998"/>
                    <a:pt x="1287781" y="87816"/>
                  </a:cubicBezTo>
                  <a:lnTo>
                    <a:pt x="1114818" y="1092475"/>
                  </a:lnTo>
                  <a:cubicBezTo>
                    <a:pt x="1106083" y="1143215"/>
                    <a:pt x="1062078" y="1180291"/>
                    <a:pt x="1010592" y="1180291"/>
                  </a:cubicBezTo>
                  <a:lnTo>
                    <a:pt x="75079" y="1180291"/>
                  </a:lnTo>
                  <a:cubicBezTo>
                    <a:pt x="52940" y="1180291"/>
                    <a:pt x="31929" y="1170520"/>
                    <a:pt x="17664" y="1153589"/>
                  </a:cubicBezTo>
                  <a:cubicBezTo>
                    <a:pt x="3398" y="1136658"/>
                    <a:pt x="-2667" y="1114294"/>
                    <a:pt x="1089" y="1092475"/>
                  </a:cubicBezTo>
                  <a:lnTo>
                    <a:pt x="174053" y="87816"/>
                  </a:lnTo>
                  <a:cubicBezTo>
                    <a:pt x="182788" y="37076"/>
                    <a:pt x="226793" y="0"/>
                    <a:pt x="278279" y="0"/>
                  </a:cubicBezTo>
                  <a:close/>
                </a:path>
              </a:pathLst>
            </a:custGeom>
            <a:solidFill>
              <a:srgbClr val="3D62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600" y="-66675"/>
              <a:ext cx="1113729" cy="1246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 u="none" strike="noStrik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311315" y="8687721"/>
            <a:ext cx="7309582" cy="837279"/>
          </a:xfrm>
          <a:custGeom>
            <a:avLst/>
            <a:gdLst/>
            <a:ahLst/>
            <a:cxnLst/>
            <a:rect l="l" t="t" r="r" b="b"/>
            <a:pathLst>
              <a:path w="7309582" h="837279">
                <a:moveTo>
                  <a:pt x="0" y="0"/>
                </a:moveTo>
                <a:lnTo>
                  <a:pt x="7309582" y="0"/>
                </a:lnTo>
                <a:lnTo>
                  <a:pt x="7309582" y="837279"/>
                </a:lnTo>
                <a:lnTo>
                  <a:pt x="0" y="8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26" name="Group 26"/>
          <p:cNvGrpSpPr/>
          <p:nvPr/>
        </p:nvGrpSpPr>
        <p:grpSpPr>
          <a:xfrm>
            <a:off x="1072222" y="7523022"/>
            <a:ext cx="11419969" cy="1544547"/>
            <a:chOff x="0" y="0"/>
            <a:chExt cx="3007728" cy="40679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07728" cy="406794"/>
            </a:xfrm>
            <a:custGeom>
              <a:avLst/>
              <a:gdLst/>
              <a:ahLst/>
              <a:cxnLst/>
              <a:rect l="l" t="t" r="r" b="b"/>
              <a:pathLst>
                <a:path w="3007728" h="406794">
                  <a:moveTo>
                    <a:pt x="17626" y="0"/>
                  </a:moveTo>
                  <a:lnTo>
                    <a:pt x="2990102" y="0"/>
                  </a:lnTo>
                  <a:cubicBezTo>
                    <a:pt x="2999837" y="0"/>
                    <a:pt x="3007728" y="7891"/>
                    <a:pt x="3007728" y="17626"/>
                  </a:cubicBezTo>
                  <a:lnTo>
                    <a:pt x="3007728" y="389168"/>
                  </a:lnTo>
                  <a:cubicBezTo>
                    <a:pt x="3007728" y="398903"/>
                    <a:pt x="2999837" y="406794"/>
                    <a:pt x="2990102" y="406794"/>
                  </a:cubicBezTo>
                  <a:lnTo>
                    <a:pt x="17626" y="406794"/>
                  </a:lnTo>
                  <a:cubicBezTo>
                    <a:pt x="12951" y="406794"/>
                    <a:pt x="8468" y="404937"/>
                    <a:pt x="5163" y="401632"/>
                  </a:cubicBezTo>
                  <a:cubicBezTo>
                    <a:pt x="1857" y="398326"/>
                    <a:pt x="0" y="393843"/>
                    <a:pt x="0" y="389168"/>
                  </a:cubicBezTo>
                  <a:lnTo>
                    <a:pt x="0" y="17626"/>
                  </a:lnTo>
                  <a:cubicBezTo>
                    <a:pt x="0" y="7891"/>
                    <a:pt x="7891" y="0"/>
                    <a:pt x="1762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007728" cy="444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308673" y="8152942"/>
            <a:ext cx="9628767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Audit campus energy, deploy sensors and dashboards, engage the community, and achieve a 10% reduction in consumption within one year while tracking usage monthly.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08673" y="7703997"/>
            <a:ext cx="4144269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Goals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730754" y="7135946"/>
            <a:ext cx="577920" cy="387075"/>
            <a:chOff x="0" y="0"/>
            <a:chExt cx="812800" cy="5443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544392"/>
            </a:xfrm>
            <a:custGeom>
              <a:avLst/>
              <a:gdLst/>
              <a:ahLst/>
              <a:cxnLst/>
              <a:rect l="l" t="t" r="r" b="b"/>
              <a:pathLst>
                <a:path w="812800" h="544392">
                  <a:moveTo>
                    <a:pt x="406400" y="0"/>
                  </a:moveTo>
                  <a:lnTo>
                    <a:pt x="812800" y="544392"/>
                  </a:lnTo>
                  <a:lnTo>
                    <a:pt x="0" y="54439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B4CD">
                <a:alpha val="82745"/>
              </a:srgbClr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000" y="205129"/>
              <a:ext cx="558800" cy="300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2500" y="7119432"/>
            <a:ext cx="1129472" cy="1002058"/>
            <a:chOff x="0" y="0"/>
            <a:chExt cx="1316929" cy="1168368"/>
          </a:xfrm>
        </p:grpSpPr>
        <p:sp>
          <p:nvSpPr>
            <p:cNvPr id="35" name="Freeform 35"/>
            <p:cNvSpPr/>
            <p:nvPr/>
          </p:nvSpPr>
          <p:spPr>
            <a:xfrm>
              <a:off x="14159" y="0"/>
              <a:ext cx="1288610" cy="1168368"/>
            </a:xfrm>
            <a:custGeom>
              <a:avLst/>
              <a:gdLst/>
              <a:ahLst/>
              <a:cxnLst/>
              <a:rect l="l" t="t" r="r" b="b"/>
              <a:pathLst>
                <a:path w="1288610" h="1168368">
                  <a:moveTo>
                    <a:pt x="278149" y="0"/>
                  </a:moveTo>
                  <a:lnTo>
                    <a:pt x="1213662" y="0"/>
                  </a:lnTo>
                  <a:cubicBezTo>
                    <a:pt x="1235785" y="0"/>
                    <a:pt x="1256779" y="9774"/>
                    <a:pt x="1271019" y="26705"/>
                  </a:cubicBezTo>
                  <a:cubicBezTo>
                    <a:pt x="1285260" y="43636"/>
                    <a:pt x="1291292" y="65994"/>
                    <a:pt x="1287502" y="87790"/>
                  </a:cubicBezTo>
                  <a:lnTo>
                    <a:pt x="1114838" y="1080578"/>
                  </a:lnTo>
                  <a:cubicBezTo>
                    <a:pt x="1106013" y="1131323"/>
                    <a:pt x="1061969" y="1168368"/>
                    <a:pt x="1010462" y="1168368"/>
                  </a:cubicBezTo>
                  <a:lnTo>
                    <a:pt x="74949" y="1168368"/>
                  </a:lnTo>
                  <a:cubicBezTo>
                    <a:pt x="52825" y="1168368"/>
                    <a:pt x="31832" y="1158594"/>
                    <a:pt x="17592" y="1141663"/>
                  </a:cubicBezTo>
                  <a:cubicBezTo>
                    <a:pt x="3351" y="1124732"/>
                    <a:pt x="-2681" y="1102375"/>
                    <a:pt x="1109" y="1080578"/>
                  </a:cubicBezTo>
                  <a:lnTo>
                    <a:pt x="173773" y="87790"/>
                  </a:lnTo>
                  <a:cubicBezTo>
                    <a:pt x="182598" y="37045"/>
                    <a:pt x="226642" y="0"/>
                    <a:pt x="278149" y="0"/>
                  </a:cubicBezTo>
                  <a:close/>
                </a:path>
              </a:pathLst>
            </a:custGeom>
            <a:solidFill>
              <a:srgbClr val="BEC8DA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600" y="-66675"/>
              <a:ext cx="1113729" cy="1235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 u="none" strike="noStrike">
                  <a:solidFill>
                    <a:srgbClr val="12235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308673" y="5974777"/>
            <a:ext cx="11070051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Higher education campuses typically face high energy consumption with limited real-time monitoring and engagement to encourage sustainable practices among students and staff.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76372" y="5523230"/>
            <a:ext cx="676762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or Issues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28700" y="1028700"/>
            <a:ext cx="3426020" cy="709930"/>
            <a:chOff x="0" y="0"/>
            <a:chExt cx="4568027" cy="94657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18067" y="3390633"/>
            <a:ext cx="10775898" cy="3343626"/>
            <a:chOff x="0" y="0"/>
            <a:chExt cx="2732429" cy="8478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2429" cy="847838"/>
            </a:xfrm>
            <a:custGeom>
              <a:avLst/>
              <a:gdLst/>
              <a:ahLst/>
              <a:cxnLst/>
              <a:rect l="l" t="t" r="r" b="b"/>
              <a:pathLst>
                <a:path w="2732429" h="847838">
                  <a:moveTo>
                    <a:pt x="71845" y="0"/>
                  </a:moveTo>
                  <a:lnTo>
                    <a:pt x="2660584" y="0"/>
                  </a:lnTo>
                  <a:cubicBezTo>
                    <a:pt x="2679639" y="0"/>
                    <a:pt x="2697913" y="7569"/>
                    <a:pt x="2711386" y="21043"/>
                  </a:cubicBezTo>
                  <a:cubicBezTo>
                    <a:pt x="2724860" y="34516"/>
                    <a:pt x="2732429" y="52790"/>
                    <a:pt x="2732429" y="71845"/>
                  </a:cubicBezTo>
                  <a:lnTo>
                    <a:pt x="2732429" y="775994"/>
                  </a:lnTo>
                  <a:cubicBezTo>
                    <a:pt x="2732429" y="795048"/>
                    <a:pt x="2724860" y="813322"/>
                    <a:pt x="2711386" y="826796"/>
                  </a:cubicBezTo>
                  <a:cubicBezTo>
                    <a:pt x="2697913" y="840269"/>
                    <a:pt x="2679639" y="847838"/>
                    <a:pt x="2660584" y="847838"/>
                  </a:cubicBezTo>
                  <a:lnTo>
                    <a:pt x="71845" y="847838"/>
                  </a:lnTo>
                  <a:cubicBezTo>
                    <a:pt x="52790" y="847838"/>
                    <a:pt x="34516" y="840269"/>
                    <a:pt x="21043" y="826796"/>
                  </a:cubicBezTo>
                  <a:cubicBezTo>
                    <a:pt x="7569" y="813322"/>
                    <a:pt x="0" y="795048"/>
                    <a:pt x="0" y="775994"/>
                  </a:cubicBezTo>
                  <a:lnTo>
                    <a:pt x="0" y="71845"/>
                  </a:lnTo>
                  <a:cubicBezTo>
                    <a:pt x="0" y="52790"/>
                    <a:pt x="7569" y="34516"/>
                    <a:pt x="21043" y="21043"/>
                  </a:cubicBezTo>
                  <a:cubicBezTo>
                    <a:pt x="34516" y="7569"/>
                    <a:pt x="52790" y="0"/>
                    <a:pt x="718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32429" cy="885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8067" y="7050244"/>
            <a:ext cx="10775898" cy="2208056"/>
            <a:chOff x="0" y="0"/>
            <a:chExt cx="2732429" cy="5598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2429" cy="559893"/>
            </a:xfrm>
            <a:custGeom>
              <a:avLst/>
              <a:gdLst/>
              <a:ahLst/>
              <a:cxnLst/>
              <a:rect l="l" t="t" r="r" b="b"/>
              <a:pathLst>
                <a:path w="2732429" h="559893">
                  <a:moveTo>
                    <a:pt x="71845" y="0"/>
                  </a:moveTo>
                  <a:lnTo>
                    <a:pt x="2660584" y="0"/>
                  </a:lnTo>
                  <a:cubicBezTo>
                    <a:pt x="2679639" y="0"/>
                    <a:pt x="2697913" y="7569"/>
                    <a:pt x="2711386" y="21043"/>
                  </a:cubicBezTo>
                  <a:cubicBezTo>
                    <a:pt x="2724860" y="34516"/>
                    <a:pt x="2732429" y="52790"/>
                    <a:pt x="2732429" y="71845"/>
                  </a:cubicBezTo>
                  <a:lnTo>
                    <a:pt x="2732429" y="488049"/>
                  </a:lnTo>
                  <a:cubicBezTo>
                    <a:pt x="2732429" y="507103"/>
                    <a:pt x="2724860" y="525377"/>
                    <a:pt x="2711386" y="538851"/>
                  </a:cubicBezTo>
                  <a:cubicBezTo>
                    <a:pt x="2697913" y="552324"/>
                    <a:pt x="2679639" y="559893"/>
                    <a:pt x="2660584" y="559893"/>
                  </a:cubicBezTo>
                  <a:lnTo>
                    <a:pt x="71845" y="559893"/>
                  </a:lnTo>
                  <a:cubicBezTo>
                    <a:pt x="52790" y="559893"/>
                    <a:pt x="34516" y="552324"/>
                    <a:pt x="21043" y="538851"/>
                  </a:cubicBezTo>
                  <a:cubicBezTo>
                    <a:pt x="7569" y="525377"/>
                    <a:pt x="0" y="507103"/>
                    <a:pt x="0" y="488049"/>
                  </a:cubicBezTo>
                  <a:lnTo>
                    <a:pt x="0" y="71845"/>
                  </a:lnTo>
                  <a:cubicBezTo>
                    <a:pt x="0" y="52790"/>
                    <a:pt x="7569" y="34516"/>
                    <a:pt x="21043" y="21043"/>
                  </a:cubicBezTo>
                  <a:cubicBezTo>
                    <a:pt x="34516" y="7569"/>
                    <a:pt x="52790" y="0"/>
                    <a:pt x="718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32429" cy="59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610057" y="2283092"/>
            <a:ext cx="6649243" cy="6649243"/>
          </a:xfrm>
          <a:custGeom>
            <a:avLst/>
            <a:gdLst/>
            <a:ahLst/>
            <a:cxnLst/>
            <a:rect l="l" t="t" r="r" b="b"/>
            <a:pathLst>
              <a:path w="6649243" h="6649243">
                <a:moveTo>
                  <a:pt x="0" y="0"/>
                </a:moveTo>
                <a:lnTo>
                  <a:pt x="6649243" y="0"/>
                </a:lnTo>
                <a:lnTo>
                  <a:pt x="6649243" y="6649244"/>
                </a:lnTo>
                <a:lnTo>
                  <a:pt x="0" y="6649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9" name="Group 9"/>
          <p:cNvGrpSpPr/>
          <p:nvPr/>
        </p:nvGrpSpPr>
        <p:grpSpPr>
          <a:xfrm>
            <a:off x="2832940" y="3495217"/>
            <a:ext cx="1186089" cy="118608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832940" y="7140456"/>
            <a:ext cx="1186089" cy="11860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146230" y="3808506"/>
            <a:ext cx="559509" cy="559509"/>
          </a:xfrm>
          <a:custGeom>
            <a:avLst/>
            <a:gdLst/>
            <a:ahLst/>
            <a:cxnLst/>
            <a:rect l="l" t="t" r="r" b="b"/>
            <a:pathLst>
              <a:path w="559509" h="559509">
                <a:moveTo>
                  <a:pt x="0" y="0"/>
                </a:moveTo>
                <a:lnTo>
                  <a:pt x="559510" y="0"/>
                </a:lnTo>
                <a:lnTo>
                  <a:pt x="559510" y="559510"/>
                </a:lnTo>
                <a:lnTo>
                  <a:pt x="0" y="559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6" name="Freeform 16"/>
          <p:cNvSpPr/>
          <p:nvPr/>
        </p:nvSpPr>
        <p:spPr>
          <a:xfrm>
            <a:off x="3146230" y="7486735"/>
            <a:ext cx="528556" cy="528556"/>
          </a:xfrm>
          <a:custGeom>
            <a:avLst/>
            <a:gdLst/>
            <a:ahLst/>
            <a:cxnLst/>
            <a:rect l="l" t="t" r="r" b="b"/>
            <a:pathLst>
              <a:path w="528556" h="528556">
                <a:moveTo>
                  <a:pt x="0" y="0"/>
                </a:moveTo>
                <a:lnTo>
                  <a:pt x="528556" y="0"/>
                </a:lnTo>
                <a:lnTo>
                  <a:pt x="528556" y="528556"/>
                </a:lnTo>
                <a:lnTo>
                  <a:pt x="0" y="528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7" name="TextBox 17"/>
          <p:cNvSpPr txBox="1"/>
          <p:nvPr/>
        </p:nvSpPr>
        <p:spPr>
          <a:xfrm>
            <a:off x="2718067" y="1800838"/>
            <a:ext cx="1285072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Scope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93647" y="4050161"/>
            <a:ext cx="5836080" cy="250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Audit energy use across all campus buildings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Install sensors and create real-time dashboards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Run educational campaigns for students, faculty, and staff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Analyze data and produce actionable sustainability reports</a:t>
            </a:r>
          </a:p>
          <a:p>
            <a:pPr marL="388618" lvl="1" indent="-194309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training for dashboard users and participants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2765" y="3636113"/>
            <a:ext cx="52010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Within Scope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2765" y="7271176"/>
            <a:ext cx="52010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Outside Scope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00880" y="1028700"/>
            <a:ext cx="3426020" cy="709930"/>
            <a:chOff x="0" y="0"/>
            <a:chExt cx="4568027" cy="94657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526900" y="7682655"/>
            <a:ext cx="6310697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Major infrastructure renovations or new renewable energy installations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Non-campus or external facilities</a:t>
            </a:r>
          </a:p>
          <a:p>
            <a:pPr marL="388618" lvl="1" indent="-194309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Online training modules beyond in-person campaigns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61098" y="2624320"/>
            <a:ext cx="10775898" cy="1226097"/>
            <a:chOff x="0" y="0"/>
            <a:chExt cx="2732429" cy="310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2429" cy="310900"/>
            </a:xfrm>
            <a:custGeom>
              <a:avLst/>
              <a:gdLst/>
              <a:ahLst/>
              <a:cxnLst/>
              <a:rect l="l" t="t" r="r" b="b"/>
              <a:pathLst>
                <a:path w="2732429" h="310900">
                  <a:moveTo>
                    <a:pt x="71845" y="0"/>
                  </a:moveTo>
                  <a:lnTo>
                    <a:pt x="2660584" y="0"/>
                  </a:lnTo>
                  <a:cubicBezTo>
                    <a:pt x="2679639" y="0"/>
                    <a:pt x="2697913" y="7569"/>
                    <a:pt x="2711386" y="21043"/>
                  </a:cubicBezTo>
                  <a:cubicBezTo>
                    <a:pt x="2724860" y="34516"/>
                    <a:pt x="2732429" y="52790"/>
                    <a:pt x="2732429" y="71845"/>
                  </a:cubicBezTo>
                  <a:lnTo>
                    <a:pt x="2732429" y="239055"/>
                  </a:lnTo>
                  <a:cubicBezTo>
                    <a:pt x="2732429" y="258109"/>
                    <a:pt x="2724860" y="276383"/>
                    <a:pt x="2711386" y="289857"/>
                  </a:cubicBezTo>
                  <a:cubicBezTo>
                    <a:pt x="2697913" y="303330"/>
                    <a:pt x="2679639" y="310900"/>
                    <a:pt x="2660584" y="310900"/>
                  </a:cubicBezTo>
                  <a:lnTo>
                    <a:pt x="71845" y="310900"/>
                  </a:lnTo>
                  <a:cubicBezTo>
                    <a:pt x="52790" y="310900"/>
                    <a:pt x="34516" y="303330"/>
                    <a:pt x="21043" y="289857"/>
                  </a:cubicBezTo>
                  <a:cubicBezTo>
                    <a:pt x="7569" y="276383"/>
                    <a:pt x="0" y="258109"/>
                    <a:pt x="0" y="239055"/>
                  </a:cubicBezTo>
                  <a:lnTo>
                    <a:pt x="0" y="71845"/>
                  </a:lnTo>
                  <a:cubicBezTo>
                    <a:pt x="0" y="52790"/>
                    <a:pt x="7569" y="34516"/>
                    <a:pt x="21043" y="21043"/>
                  </a:cubicBezTo>
                  <a:cubicBezTo>
                    <a:pt x="34516" y="7569"/>
                    <a:pt x="52790" y="0"/>
                    <a:pt x="718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32429" cy="34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512163" y="4126642"/>
            <a:ext cx="5473769" cy="5131658"/>
          </a:xfrm>
          <a:custGeom>
            <a:avLst/>
            <a:gdLst/>
            <a:ahLst/>
            <a:cxnLst/>
            <a:rect l="l" t="t" r="r" b="b"/>
            <a:pathLst>
              <a:path w="5473769" h="5131658">
                <a:moveTo>
                  <a:pt x="0" y="0"/>
                </a:moveTo>
                <a:lnTo>
                  <a:pt x="5473768" y="0"/>
                </a:lnTo>
                <a:lnTo>
                  <a:pt x="5473768" y="5131658"/>
                </a:lnTo>
                <a:lnTo>
                  <a:pt x="0" y="5131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6" name="Group 6"/>
          <p:cNvGrpSpPr/>
          <p:nvPr/>
        </p:nvGrpSpPr>
        <p:grpSpPr>
          <a:xfrm>
            <a:off x="10011435" y="6514898"/>
            <a:ext cx="2118870" cy="1249855"/>
            <a:chOff x="0" y="0"/>
            <a:chExt cx="660400" cy="3895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89549"/>
            </a:xfrm>
            <a:custGeom>
              <a:avLst/>
              <a:gdLst/>
              <a:ahLst/>
              <a:cxnLst/>
              <a:rect l="l" t="t" r="r" b="b"/>
              <a:pathLst>
                <a:path w="660400" h="389549">
                  <a:moveTo>
                    <a:pt x="220252" y="370480"/>
                  </a:moveTo>
                  <a:cubicBezTo>
                    <a:pt x="254109" y="381994"/>
                    <a:pt x="292600" y="389549"/>
                    <a:pt x="330378" y="389549"/>
                  </a:cubicBezTo>
                  <a:cubicBezTo>
                    <a:pt x="368157" y="389549"/>
                    <a:pt x="404509" y="383072"/>
                    <a:pt x="438009" y="371559"/>
                  </a:cubicBezTo>
                  <a:cubicBezTo>
                    <a:pt x="438723" y="371199"/>
                    <a:pt x="439435" y="371199"/>
                    <a:pt x="440148" y="370840"/>
                  </a:cubicBezTo>
                  <a:cubicBezTo>
                    <a:pt x="565955" y="324784"/>
                    <a:pt x="658618" y="203171"/>
                    <a:pt x="660400" y="7044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397"/>
                  </a:lnTo>
                  <a:cubicBezTo>
                    <a:pt x="1782" y="203889"/>
                    <a:pt x="93019" y="325505"/>
                    <a:pt x="220252" y="370480"/>
                  </a:cubicBezTo>
                  <a:close/>
                </a:path>
              </a:pathLst>
            </a:custGeom>
            <a:solidFill>
              <a:srgbClr val="F68D56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" cy="300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67789" y="6514898"/>
            <a:ext cx="2118870" cy="1249855"/>
            <a:chOff x="0" y="0"/>
            <a:chExt cx="660400" cy="3895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389549"/>
            </a:xfrm>
            <a:custGeom>
              <a:avLst/>
              <a:gdLst/>
              <a:ahLst/>
              <a:cxnLst/>
              <a:rect l="l" t="t" r="r" b="b"/>
              <a:pathLst>
                <a:path w="660400" h="389549">
                  <a:moveTo>
                    <a:pt x="220252" y="370480"/>
                  </a:moveTo>
                  <a:cubicBezTo>
                    <a:pt x="254109" y="381994"/>
                    <a:pt x="292600" y="389549"/>
                    <a:pt x="330378" y="389549"/>
                  </a:cubicBezTo>
                  <a:cubicBezTo>
                    <a:pt x="368157" y="389549"/>
                    <a:pt x="404509" y="383072"/>
                    <a:pt x="438009" y="371559"/>
                  </a:cubicBezTo>
                  <a:cubicBezTo>
                    <a:pt x="438723" y="371199"/>
                    <a:pt x="439435" y="371199"/>
                    <a:pt x="440148" y="370840"/>
                  </a:cubicBezTo>
                  <a:cubicBezTo>
                    <a:pt x="565955" y="324784"/>
                    <a:pt x="658618" y="203171"/>
                    <a:pt x="660400" y="7044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397"/>
                  </a:lnTo>
                  <a:cubicBezTo>
                    <a:pt x="1782" y="203889"/>
                    <a:pt x="93019" y="325505"/>
                    <a:pt x="220252" y="37048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60400" cy="300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579676" y="3264889"/>
            <a:ext cx="954369" cy="4404880"/>
            <a:chOff x="0" y="0"/>
            <a:chExt cx="535786" cy="24729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5786" cy="2472915"/>
            </a:xfrm>
            <a:custGeom>
              <a:avLst/>
              <a:gdLst/>
              <a:ahLst/>
              <a:cxnLst/>
              <a:rect l="l" t="t" r="r" b="b"/>
              <a:pathLst>
                <a:path w="535786" h="2472915">
                  <a:moveTo>
                    <a:pt x="178692" y="19070"/>
                  </a:moveTo>
                  <a:cubicBezTo>
                    <a:pt x="206072" y="7556"/>
                    <a:pt x="237388" y="0"/>
                    <a:pt x="268037" y="0"/>
                  </a:cubicBezTo>
                  <a:cubicBezTo>
                    <a:pt x="298687" y="0"/>
                    <a:pt x="328180" y="6476"/>
                    <a:pt x="355359" y="17990"/>
                  </a:cubicBezTo>
                  <a:cubicBezTo>
                    <a:pt x="355938" y="18350"/>
                    <a:pt x="356516" y="18350"/>
                    <a:pt x="357094" y="18710"/>
                  </a:cubicBezTo>
                  <a:cubicBezTo>
                    <a:pt x="459163" y="64765"/>
                    <a:pt x="534341" y="186379"/>
                    <a:pt x="535786" y="365378"/>
                  </a:cubicBezTo>
                  <a:lnTo>
                    <a:pt x="535786" y="2472915"/>
                  </a:lnTo>
                  <a:lnTo>
                    <a:pt x="0" y="2472915"/>
                  </a:lnTo>
                  <a:lnTo>
                    <a:pt x="0" y="366942"/>
                  </a:lnTo>
                  <a:cubicBezTo>
                    <a:pt x="1446" y="185660"/>
                    <a:pt x="75467" y="64045"/>
                    <a:pt x="178692" y="190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8900"/>
              <a:ext cx="535786" cy="2384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14579676" y="4491946"/>
            <a:ext cx="954369" cy="4404880"/>
            <a:chOff x="0" y="0"/>
            <a:chExt cx="535786" cy="24729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5786" cy="2472915"/>
            </a:xfrm>
            <a:custGeom>
              <a:avLst/>
              <a:gdLst/>
              <a:ahLst/>
              <a:cxnLst/>
              <a:rect l="l" t="t" r="r" b="b"/>
              <a:pathLst>
                <a:path w="535786" h="2472915">
                  <a:moveTo>
                    <a:pt x="178692" y="19070"/>
                  </a:moveTo>
                  <a:cubicBezTo>
                    <a:pt x="206072" y="7556"/>
                    <a:pt x="237388" y="0"/>
                    <a:pt x="268037" y="0"/>
                  </a:cubicBezTo>
                  <a:cubicBezTo>
                    <a:pt x="298687" y="0"/>
                    <a:pt x="328180" y="6476"/>
                    <a:pt x="355359" y="17990"/>
                  </a:cubicBezTo>
                  <a:cubicBezTo>
                    <a:pt x="355938" y="18350"/>
                    <a:pt x="356516" y="18350"/>
                    <a:pt x="357094" y="18710"/>
                  </a:cubicBezTo>
                  <a:cubicBezTo>
                    <a:pt x="459163" y="64765"/>
                    <a:pt x="534341" y="186379"/>
                    <a:pt x="535786" y="365378"/>
                  </a:cubicBezTo>
                  <a:lnTo>
                    <a:pt x="535786" y="2472915"/>
                  </a:lnTo>
                  <a:lnTo>
                    <a:pt x="0" y="2472915"/>
                  </a:lnTo>
                  <a:lnTo>
                    <a:pt x="0" y="366942"/>
                  </a:lnTo>
                  <a:cubicBezTo>
                    <a:pt x="1446" y="185660"/>
                    <a:pt x="75467" y="64045"/>
                    <a:pt x="178692" y="190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8900"/>
              <a:ext cx="535786" cy="2384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14579676" y="5719003"/>
            <a:ext cx="954369" cy="4404880"/>
            <a:chOff x="0" y="0"/>
            <a:chExt cx="535786" cy="24729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5786" cy="2472915"/>
            </a:xfrm>
            <a:custGeom>
              <a:avLst/>
              <a:gdLst/>
              <a:ahLst/>
              <a:cxnLst/>
              <a:rect l="l" t="t" r="r" b="b"/>
              <a:pathLst>
                <a:path w="535786" h="2472915">
                  <a:moveTo>
                    <a:pt x="178692" y="19070"/>
                  </a:moveTo>
                  <a:cubicBezTo>
                    <a:pt x="206072" y="7556"/>
                    <a:pt x="237388" y="0"/>
                    <a:pt x="268037" y="0"/>
                  </a:cubicBezTo>
                  <a:cubicBezTo>
                    <a:pt x="298687" y="0"/>
                    <a:pt x="328180" y="6476"/>
                    <a:pt x="355359" y="17990"/>
                  </a:cubicBezTo>
                  <a:cubicBezTo>
                    <a:pt x="355938" y="18350"/>
                    <a:pt x="356516" y="18350"/>
                    <a:pt x="357094" y="18710"/>
                  </a:cubicBezTo>
                  <a:cubicBezTo>
                    <a:pt x="459163" y="64765"/>
                    <a:pt x="534341" y="186379"/>
                    <a:pt x="535786" y="365378"/>
                  </a:cubicBezTo>
                  <a:lnTo>
                    <a:pt x="535786" y="2472915"/>
                  </a:lnTo>
                  <a:lnTo>
                    <a:pt x="0" y="2472915"/>
                  </a:lnTo>
                  <a:lnTo>
                    <a:pt x="0" y="366942"/>
                  </a:lnTo>
                  <a:cubicBezTo>
                    <a:pt x="1446" y="185660"/>
                    <a:pt x="75467" y="64045"/>
                    <a:pt x="178692" y="190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88900"/>
              <a:ext cx="535786" cy="2384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3021415" y="5718365"/>
            <a:ext cx="954369" cy="4404880"/>
            <a:chOff x="0" y="0"/>
            <a:chExt cx="535786" cy="24729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5786" cy="2472915"/>
            </a:xfrm>
            <a:custGeom>
              <a:avLst/>
              <a:gdLst/>
              <a:ahLst/>
              <a:cxnLst/>
              <a:rect l="l" t="t" r="r" b="b"/>
              <a:pathLst>
                <a:path w="535786" h="2472915">
                  <a:moveTo>
                    <a:pt x="178692" y="19070"/>
                  </a:moveTo>
                  <a:cubicBezTo>
                    <a:pt x="206072" y="7556"/>
                    <a:pt x="237388" y="0"/>
                    <a:pt x="268037" y="0"/>
                  </a:cubicBezTo>
                  <a:cubicBezTo>
                    <a:pt x="298687" y="0"/>
                    <a:pt x="328180" y="6476"/>
                    <a:pt x="355359" y="17990"/>
                  </a:cubicBezTo>
                  <a:cubicBezTo>
                    <a:pt x="355938" y="18350"/>
                    <a:pt x="356516" y="18350"/>
                    <a:pt x="357094" y="18710"/>
                  </a:cubicBezTo>
                  <a:cubicBezTo>
                    <a:pt x="459163" y="64765"/>
                    <a:pt x="534341" y="186379"/>
                    <a:pt x="535786" y="365378"/>
                  </a:cubicBezTo>
                  <a:lnTo>
                    <a:pt x="535786" y="2472915"/>
                  </a:lnTo>
                  <a:lnTo>
                    <a:pt x="0" y="2472915"/>
                  </a:lnTo>
                  <a:lnTo>
                    <a:pt x="0" y="366942"/>
                  </a:lnTo>
                  <a:cubicBezTo>
                    <a:pt x="1446" y="185660"/>
                    <a:pt x="75467" y="64045"/>
                    <a:pt x="178692" y="190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88900"/>
              <a:ext cx="535786" cy="2384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5400000">
            <a:off x="3021415" y="4491308"/>
            <a:ext cx="954369" cy="4404880"/>
            <a:chOff x="0" y="0"/>
            <a:chExt cx="535786" cy="24729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5786" cy="2472915"/>
            </a:xfrm>
            <a:custGeom>
              <a:avLst/>
              <a:gdLst/>
              <a:ahLst/>
              <a:cxnLst/>
              <a:rect l="l" t="t" r="r" b="b"/>
              <a:pathLst>
                <a:path w="535786" h="2472915">
                  <a:moveTo>
                    <a:pt x="178692" y="19070"/>
                  </a:moveTo>
                  <a:cubicBezTo>
                    <a:pt x="206072" y="7556"/>
                    <a:pt x="237388" y="0"/>
                    <a:pt x="268037" y="0"/>
                  </a:cubicBezTo>
                  <a:cubicBezTo>
                    <a:pt x="298687" y="0"/>
                    <a:pt x="328180" y="6476"/>
                    <a:pt x="355359" y="17990"/>
                  </a:cubicBezTo>
                  <a:cubicBezTo>
                    <a:pt x="355938" y="18350"/>
                    <a:pt x="356516" y="18350"/>
                    <a:pt x="357094" y="18710"/>
                  </a:cubicBezTo>
                  <a:cubicBezTo>
                    <a:pt x="459163" y="64765"/>
                    <a:pt x="534341" y="186379"/>
                    <a:pt x="535786" y="365378"/>
                  </a:cubicBezTo>
                  <a:lnTo>
                    <a:pt x="535786" y="2472915"/>
                  </a:lnTo>
                  <a:lnTo>
                    <a:pt x="0" y="2472915"/>
                  </a:lnTo>
                  <a:lnTo>
                    <a:pt x="0" y="366942"/>
                  </a:lnTo>
                  <a:cubicBezTo>
                    <a:pt x="1446" y="185660"/>
                    <a:pt x="75467" y="64045"/>
                    <a:pt x="178692" y="190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88900"/>
              <a:ext cx="535786" cy="2384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5400000">
            <a:off x="3021415" y="3264250"/>
            <a:ext cx="954369" cy="4404880"/>
            <a:chOff x="0" y="0"/>
            <a:chExt cx="535786" cy="24729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5786" cy="2472915"/>
            </a:xfrm>
            <a:custGeom>
              <a:avLst/>
              <a:gdLst/>
              <a:ahLst/>
              <a:cxnLst/>
              <a:rect l="l" t="t" r="r" b="b"/>
              <a:pathLst>
                <a:path w="535786" h="2472915">
                  <a:moveTo>
                    <a:pt x="178692" y="19070"/>
                  </a:moveTo>
                  <a:cubicBezTo>
                    <a:pt x="206072" y="7556"/>
                    <a:pt x="237388" y="0"/>
                    <a:pt x="268037" y="0"/>
                  </a:cubicBezTo>
                  <a:cubicBezTo>
                    <a:pt x="298687" y="0"/>
                    <a:pt x="328180" y="6476"/>
                    <a:pt x="355359" y="17990"/>
                  </a:cubicBezTo>
                  <a:cubicBezTo>
                    <a:pt x="355938" y="18350"/>
                    <a:pt x="356516" y="18350"/>
                    <a:pt x="357094" y="18710"/>
                  </a:cubicBezTo>
                  <a:cubicBezTo>
                    <a:pt x="459163" y="64765"/>
                    <a:pt x="534341" y="186379"/>
                    <a:pt x="535786" y="365378"/>
                  </a:cubicBezTo>
                  <a:lnTo>
                    <a:pt x="535786" y="2472915"/>
                  </a:lnTo>
                  <a:lnTo>
                    <a:pt x="0" y="2472915"/>
                  </a:lnTo>
                  <a:lnTo>
                    <a:pt x="0" y="366942"/>
                  </a:lnTo>
                  <a:cubicBezTo>
                    <a:pt x="1446" y="185660"/>
                    <a:pt x="75467" y="64045"/>
                    <a:pt x="178692" y="190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88900"/>
              <a:ext cx="535786" cy="2384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568455" y="5181363"/>
            <a:ext cx="571931" cy="57193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14858" y="5180725"/>
            <a:ext cx="571931" cy="571931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u="none" strike="noStrik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568455" y="6409058"/>
            <a:ext cx="571931" cy="57193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414858" y="6408420"/>
            <a:ext cx="571931" cy="571931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u="none" strike="noStrik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2718640" y="1706110"/>
            <a:ext cx="1285072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Risks, Limitations and Assumptions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2568455" y="7636754"/>
            <a:ext cx="571931" cy="571931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14858" y="7636115"/>
            <a:ext cx="571931" cy="571931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u="none" strike="noStrik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3616636" y="5294288"/>
            <a:ext cx="320792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Budget Limitations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16406" y="5294926"/>
            <a:ext cx="320792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Hardware Deployment Delays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616636" y="6522621"/>
            <a:ext cx="320792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Time Constraints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816406" y="6399705"/>
            <a:ext cx="3207928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Low User Adoption &amp; Resistance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664261" y="7726654"/>
            <a:ext cx="320792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Departmental Dependencies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16406" y="7626762"/>
            <a:ext cx="3207928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Technical Integration Challenges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421015" y="6825445"/>
            <a:ext cx="2012418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</a:pPr>
            <a:r>
              <a:rPr lang="en-US" sz="1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Risks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064661" y="6825445"/>
            <a:ext cx="2012418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0"/>
              </a:lnSpc>
            </a:pPr>
            <a:r>
              <a:rPr lang="en-US" sz="1800" b="1">
                <a:solidFill>
                  <a:srgbClr val="122359"/>
                </a:solidFill>
                <a:latin typeface="DM Sans Bold"/>
                <a:ea typeface="DM Sans Bold"/>
                <a:cs typeface="DM Sans Bold"/>
                <a:sym typeface="DM Sans Bold"/>
              </a:rPr>
              <a:t>Limitations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186009" y="2827432"/>
            <a:ext cx="10126077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Assumptions: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project assumes stakeholder cooperation, active user engagement, and reliable technology performance throughout implementation.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037987" y="1028700"/>
            <a:ext cx="3426020" cy="709930"/>
            <a:chOff x="0" y="0"/>
            <a:chExt cx="4568027" cy="946573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06850" y="3043670"/>
          <a:ext cx="15074298" cy="6214630"/>
        </p:xfrm>
        <a:graphic>
          <a:graphicData uri="http://schemas.openxmlformats.org/drawingml/2006/table">
            <a:tbl>
              <a:tblPr/>
              <a:tblGrid>
                <a:gridCol w="5024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4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4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7672"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40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Labor &amp; Installation: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$214,000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Energy Cost Savings: </a:t>
                      </a:r>
                      <a:r>
                        <a:rPr lang="en-US" sz="17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$300,000/year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6-month</a:t>
                      </a:r>
                      <a:r>
                        <a:rPr lang="en-US" sz="1799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 payback period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347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Equipment (Sensors):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$67,500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Operational Efficiency: </a:t>
                      </a:r>
                      <a:r>
                        <a:rPr lang="en-US" sz="17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$140,000/year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Year 1 Net Benefit: </a:t>
                      </a:r>
                      <a:r>
                        <a:rPr lang="en-US" sz="17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$313,175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40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Software &amp; Training: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$25,000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Revenue &amp; Compliance: </a:t>
                      </a:r>
                      <a:r>
                        <a:rPr lang="en-US" sz="17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$195,000/year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5-Year Net Benefit: </a:t>
                      </a:r>
                      <a:r>
                        <a:rPr lang="en-US" sz="17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$2.85 Million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133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Contingency: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$15,325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-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-</a:t>
                      </a: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1338"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626" cap="flat" cmpd="sng" algn="ctr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2330775" y="2909769"/>
            <a:ext cx="3250506" cy="1733550"/>
            <a:chOff x="0" y="0"/>
            <a:chExt cx="856100" cy="4565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6100" cy="456573"/>
            </a:xfrm>
            <a:custGeom>
              <a:avLst/>
              <a:gdLst/>
              <a:ahLst/>
              <a:cxnLst/>
              <a:rect l="l" t="t" r="r" b="b"/>
              <a:pathLst>
                <a:path w="856100" h="456573">
                  <a:moveTo>
                    <a:pt x="856100" y="0"/>
                  </a:moveTo>
                  <a:lnTo>
                    <a:pt x="856100" y="342273"/>
                  </a:lnTo>
                  <a:lnTo>
                    <a:pt x="428050" y="456573"/>
                  </a:lnTo>
                  <a:lnTo>
                    <a:pt x="0" y="342273"/>
                  </a:lnTo>
                  <a:lnTo>
                    <a:pt x="0" y="0"/>
                  </a:lnTo>
                  <a:lnTo>
                    <a:pt x="856100" y="0"/>
                  </a:ln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56100" cy="380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95805" y="2909769"/>
            <a:ext cx="3296390" cy="1733550"/>
            <a:chOff x="0" y="0"/>
            <a:chExt cx="868185" cy="4565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8185" cy="456573"/>
            </a:xfrm>
            <a:custGeom>
              <a:avLst/>
              <a:gdLst/>
              <a:ahLst/>
              <a:cxnLst/>
              <a:rect l="l" t="t" r="r" b="b"/>
              <a:pathLst>
                <a:path w="868185" h="456573">
                  <a:moveTo>
                    <a:pt x="868185" y="0"/>
                  </a:moveTo>
                  <a:lnTo>
                    <a:pt x="868185" y="342273"/>
                  </a:lnTo>
                  <a:lnTo>
                    <a:pt x="434092" y="456573"/>
                  </a:lnTo>
                  <a:lnTo>
                    <a:pt x="0" y="342273"/>
                  </a:lnTo>
                  <a:lnTo>
                    <a:pt x="0" y="0"/>
                  </a:lnTo>
                  <a:lnTo>
                    <a:pt x="868185" y="0"/>
                  </a:lnTo>
                  <a:close/>
                </a:path>
              </a:pathLst>
            </a:custGeom>
            <a:solidFill>
              <a:srgbClr val="3E63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68185" cy="380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04630" y="2909769"/>
            <a:ext cx="3296390" cy="1733550"/>
            <a:chOff x="0" y="0"/>
            <a:chExt cx="868185" cy="4565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8185" cy="456573"/>
            </a:xfrm>
            <a:custGeom>
              <a:avLst/>
              <a:gdLst/>
              <a:ahLst/>
              <a:cxnLst/>
              <a:rect l="l" t="t" r="r" b="b"/>
              <a:pathLst>
                <a:path w="868185" h="456573">
                  <a:moveTo>
                    <a:pt x="868185" y="0"/>
                  </a:moveTo>
                  <a:lnTo>
                    <a:pt x="868185" y="342273"/>
                  </a:lnTo>
                  <a:lnTo>
                    <a:pt x="434092" y="456573"/>
                  </a:lnTo>
                  <a:lnTo>
                    <a:pt x="0" y="342273"/>
                  </a:lnTo>
                  <a:lnTo>
                    <a:pt x="0" y="0"/>
                  </a:lnTo>
                  <a:lnTo>
                    <a:pt x="868185" y="0"/>
                  </a:lnTo>
                  <a:close/>
                </a:path>
              </a:pathLst>
            </a:custGeom>
            <a:solidFill>
              <a:srgbClr val="BEC8DA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68185" cy="380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681653" y="8524858"/>
            <a:ext cx="2548749" cy="463676"/>
            <a:chOff x="0" y="0"/>
            <a:chExt cx="1095521" cy="1993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522" cy="199301"/>
            </a:xfrm>
            <a:custGeom>
              <a:avLst/>
              <a:gdLst/>
              <a:ahLst/>
              <a:cxnLst/>
              <a:rect l="l" t="t" r="r" b="b"/>
              <a:pathLst>
                <a:path w="1095522" h="199301">
                  <a:moveTo>
                    <a:pt x="99650" y="0"/>
                  </a:moveTo>
                  <a:lnTo>
                    <a:pt x="995871" y="0"/>
                  </a:lnTo>
                  <a:cubicBezTo>
                    <a:pt x="1050907" y="0"/>
                    <a:pt x="1095522" y="44615"/>
                    <a:pt x="1095522" y="99650"/>
                  </a:cubicBezTo>
                  <a:lnTo>
                    <a:pt x="1095522" y="99650"/>
                  </a:lnTo>
                  <a:cubicBezTo>
                    <a:pt x="1095522" y="126079"/>
                    <a:pt x="1085023" y="151426"/>
                    <a:pt x="1066335" y="170114"/>
                  </a:cubicBezTo>
                  <a:cubicBezTo>
                    <a:pt x="1047647" y="188802"/>
                    <a:pt x="1022300" y="199301"/>
                    <a:pt x="995871" y="199301"/>
                  </a:cubicBezTo>
                  <a:lnTo>
                    <a:pt x="99650" y="199301"/>
                  </a:lnTo>
                  <a:cubicBezTo>
                    <a:pt x="73221" y="199301"/>
                    <a:pt x="47875" y="188802"/>
                    <a:pt x="29187" y="170114"/>
                  </a:cubicBezTo>
                  <a:cubicBezTo>
                    <a:pt x="10499" y="151426"/>
                    <a:pt x="0" y="126079"/>
                    <a:pt x="0" y="99650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95521" cy="23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Total : $321,825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904146" y="8524858"/>
            <a:ext cx="2548749" cy="463676"/>
            <a:chOff x="0" y="0"/>
            <a:chExt cx="1095521" cy="1993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5522" cy="199301"/>
            </a:xfrm>
            <a:custGeom>
              <a:avLst/>
              <a:gdLst/>
              <a:ahLst/>
              <a:cxnLst/>
              <a:rect l="l" t="t" r="r" b="b"/>
              <a:pathLst>
                <a:path w="1095522" h="199301">
                  <a:moveTo>
                    <a:pt x="99650" y="0"/>
                  </a:moveTo>
                  <a:lnTo>
                    <a:pt x="995871" y="0"/>
                  </a:lnTo>
                  <a:cubicBezTo>
                    <a:pt x="1050907" y="0"/>
                    <a:pt x="1095522" y="44615"/>
                    <a:pt x="1095522" y="99650"/>
                  </a:cubicBezTo>
                  <a:lnTo>
                    <a:pt x="1095522" y="99650"/>
                  </a:lnTo>
                  <a:cubicBezTo>
                    <a:pt x="1095522" y="126079"/>
                    <a:pt x="1085023" y="151426"/>
                    <a:pt x="1066335" y="170114"/>
                  </a:cubicBezTo>
                  <a:cubicBezTo>
                    <a:pt x="1047647" y="188802"/>
                    <a:pt x="1022300" y="199301"/>
                    <a:pt x="995871" y="199301"/>
                  </a:cubicBezTo>
                  <a:lnTo>
                    <a:pt x="99650" y="199301"/>
                  </a:lnTo>
                  <a:cubicBezTo>
                    <a:pt x="73221" y="199301"/>
                    <a:pt x="47875" y="188802"/>
                    <a:pt x="29187" y="170114"/>
                  </a:cubicBezTo>
                  <a:cubicBezTo>
                    <a:pt x="10499" y="151426"/>
                    <a:pt x="0" y="126079"/>
                    <a:pt x="0" y="99650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3E63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95521" cy="23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Total: $635,000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91540" y="8524858"/>
            <a:ext cx="2922569" cy="463676"/>
            <a:chOff x="0" y="0"/>
            <a:chExt cx="1256200" cy="1993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6200" cy="199301"/>
            </a:xfrm>
            <a:custGeom>
              <a:avLst/>
              <a:gdLst/>
              <a:ahLst/>
              <a:cxnLst/>
              <a:rect l="l" t="t" r="r" b="b"/>
              <a:pathLst>
                <a:path w="1256200" h="199301">
                  <a:moveTo>
                    <a:pt x="99650" y="0"/>
                  </a:moveTo>
                  <a:lnTo>
                    <a:pt x="1156549" y="0"/>
                  </a:lnTo>
                  <a:cubicBezTo>
                    <a:pt x="1182978" y="0"/>
                    <a:pt x="1208325" y="10499"/>
                    <a:pt x="1227013" y="29187"/>
                  </a:cubicBezTo>
                  <a:cubicBezTo>
                    <a:pt x="1245701" y="47875"/>
                    <a:pt x="1256200" y="73221"/>
                    <a:pt x="1256200" y="99650"/>
                  </a:cubicBezTo>
                  <a:lnTo>
                    <a:pt x="1256200" y="99650"/>
                  </a:lnTo>
                  <a:cubicBezTo>
                    <a:pt x="1256200" y="126079"/>
                    <a:pt x="1245701" y="151426"/>
                    <a:pt x="1227013" y="170114"/>
                  </a:cubicBezTo>
                  <a:cubicBezTo>
                    <a:pt x="1208325" y="188802"/>
                    <a:pt x="1182978" y="199301"/>
                    <a:pt x="1156549" y="199301"/>
                  </a:cubicBezTo>
                  <a:lnTo>
                    <a:pt x="99650" y="199301"/>
                  </a:lnTo>
                  <a:cubicBezTo>
                    <a:pt x="73221" y="199301"/>
                    <a:pt x="47875" y="188802"/>
                    <a:pt x="29187" y="170114"/>
                  </a:cubicBezTo>
                  <a:cubicBezTo>
                    <a:pt x="10499" y="151426"/>
                    <a:pt x="0" y="126079"/>
                    <a:pt x="0" y="99650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BEC8DA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56200" cy="23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Payback Period: 6 Mon</a:t>
              </a:r>
              <a:r>
                <a:rPr lang="en-US" sz="1600" b="1" u="none" strike="noStrik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ths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793392"/>
            <a:ext cx="3426020" cy="709930"/>
            <a:chOff x="0" y="0"/>
            <a:chExt cx="4568027" cy="94657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495816" y="3115560"/>
            <a:ext cx="818640" cy="831106"/>
          </a:xfrm>
          <a:custGeom>
            <a:avLst/>
            <a:gdLst/>
            <a:ahLst/>
            <a:cxnLst/>
            <a:rect l="l" t="t" r="r" b="b"/>
            <a:pathLst>
              <a:path w="818640" h="831106">
                <a:moveTo>
                  <a:pt x="0" y="0"/>
                </a:moveTo>
                <a:lnTo>
                  <a:pt x="818639" y="0"/>
                </a:lnTo>
                <a:lnTo>
                  <a:pt x="818639" y="831106"/>
                </a:lnTo>
                <a:lnTo>
                  <a:pt x="0" y="831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25" name="Freeform 25"/>
          <p:cNvSpPr/>
          <p:nvPr/>
        </p:nvSpPr>
        <p:spPr>
          <a:xfrm>
            <a:off x="8735109" y="3115560"/>
            <a:ext cx="791701" cy="826841"/>
          </a:xfrm>
          <a:custGeom>
            <a:avLst/>
            <a:gdLst/>
            <a:ahLst/>
            <a:cxnLst/>
            <a:rect l="l" t="t" r="r" b="b"/>
            <a:pathLst>
              <a:path w="791701" h="826841">
                <a:moveTo>
                  <a:pt x="0" y="0"/>
                </a:moveTo>
                <a:lnTo>
                  <a:pt x="791700" y="0"/>
                </a:lnTo>
                <a:lnTo>
                  <a:pt x="791700" y="826841"/>
                </a:lnTo>
                <a:lnTo>
                  <a:pt x="0" y="8268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6" name="Freeform 26"/>
          <p:cNvSpPr/>
          <p:nvPr/>
        </p:nvSpPr>
        <p:spPr>
          <a:xfrm>
            <a:off x="13937272" y="3111295"/>
            <a:ext cx="831106" cy="831106"/>
          </a:xfrm>
          <a:custGeom>
            <a:avLst/>
            <a:gdLst/>
            <a:ahLst/>
            <a:cxnLst/>
            <a:rect l="l" t="t" r="r" b="b"/>
            <a:pathLst>
              <a:path w="831106" h="831106">
                <a:moveTo>
                  <a:pt x="0" y="0"/>
                </a:moveTo>
                <a:lnTo>
                  <a:pt x="831106" y="0"/>
                </a:lnTo>
                <a:lnTo>
                  <a:pt x="831106" y="831106"/>
                </a:lnTo>
                <a:lnTo>
                  <a:pt x="0" y="831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27" name="TextBox 27"/>
          <p:cNvSpPr txBox="1"/>
          <p:nvPr/>
        </p:nvSpPr>
        <p:spPr>
          <a:xfrm>
            <a:off x="7564846" y="3970277"/>
            <a:ext cx="322734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Annual Benefits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53931" y="3970277"/>
            <a:ext cx="322734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Cost Breakdown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73670" y="3970277"/>
            <a:ext cx="322734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Return on Investment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16120" y="1706033"/>
            <a:ext cx="925576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Financial Summary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87985" y="2854236"/>
            <a:ext cx="4712030" cy="4703463"/>
          </a:xfrm>
          <a:custGeom>
            <a:avLst/>
            <a:gdLst/>
            <a:ahLst/>
            <a:cxnLst/>
            <a:rect l="l" t="t" r="r" b="b"/>
            <a:pathLst>
              <a:path w="4712030" h="4703463">
                <a:moveTo>
                  <a:pt x="0" y="0"/>
                </a:moveTo>
                <a:lnTo>
                  <a:pt x="4712030" y="0"/>
                </a:lnTo>
                <a:lnTo>
                  <a:pt x="4712030" y="4703463"/>
                </a:lnTo>
                <a:lnTo>
                  <a:pt x="0" y="4703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3" name="Group 3"/>
          <p:cNvGrpSpPr/>
          <p:nvPr/>
        </p:nvGrpSpPr>
        <p:grpSpPr>
          <a:xfrm>
            <a:off x="6976982" y="2953703"/>
            <a:ext cx="4334036" cy="433403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For this smart campus energy management system, the methodology that fits best is an agile approach, using a mix of kanban and roadmap-driven planning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4779553" y="2953703"/>
            <a:ext cx="1500884" cy="1500884"/>
            <a:chOff x="0" y="0"/>
            <a:chExt cx="395295" cy="3952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5295" cy="395295"/>
            </a:xfrm>
            <a:custGeom>
              <a:avLst/>
              <a:gdLst/>
              <a:ahLst/>
              <a:cxnLst/>
              <a:rect l="l" t="t" r="r" b="b"/>
              <a:pathLst>
                <a:path w="395295" h="395295">
                  <a:moveTo>
                    <a:pt x="67057" y="0"/>
                  </a:moveTo>
                  <a:lnTo>
                    <a:pt x="328237" y="0"/>
                  </a:lnTo>
                  <a:cubicBezTo>
                    <a:pt x="365272" y="0"/>
                    <a:pt x="395295" y="30022"/>
                    <a:pt x="395295" y="67057"/>
                  </a:cubicBezTo>
                  <a:lnTo>
                    <a:pt x="395295" y="328237"/>
                  </a:lnTo>
                  <a:cubicBezTo>
                    <a:pt x="395295" y="346022"/>
                    <a:pt x="388230" y="363078"/>
                    <a:pt x="375654" y="375654"/>
                  </a:cubicBezTo>
                  <a:cubicBezTo>
                    <a:pt x="363078" y="388230"/>
                    <a:pt x="346022" y="395295"/>
                    <a:pt x="328237" y="395295"/>
                  </a:cubicBezTo>
                  <a:lnTo>
                    <a:pt x="67057" y="395295"/>
                  </a:lnTo>
                  <a:cubicBezTo>
                    <a:pt x="49272" y="395295"/>
                    <a:pt x="32216" y="388230"/>
                    <a:pt x="19641" y="375654"/>
                  </a:cubicBezTo>
                  <a:cubicBezTo>
                    <a:pt x="7065" y="363078"/>
                    <a:pt x="0" y="346022"/>
                    <a:pt x="0" y="328237"/>
                  </a:cubicBezTo>
                  <a:lnTo>
                    <a:pt x="0" y="67057"/>
                  </a:lnTo>
                  <a:cubicBezTo>
                    <a:pt x="0" y="49272"/>
                    <a:pt x="7065" y="32216"/>
                    <a:pt x="19641" y="19641"/>
                  </a:cubicBezTo>
                  <a:cubicBezTo>
                    <a:pt x="32216" y="7065"/>
                    <a:pt x="49272" y="0"/>
                    <a:pt x="67057" y="0"/>
                  </a:cubicBezTo>
                  <a:close/>
                </a:path>
              </a:pathLst>
            </a:custGeom>
            <a:solidFill>
              <a:srgbClr val="FBF6E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95295" cy="43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70571" y="4370279"/>
            <a:ext cx="1500884" cy="1500884"/>
            <a:chOff x="0" y="0"/>
            <a:chExt cx="395295" cy="3952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5295" cy="395295"/>
            </a:xfrm>
            <a:custGeom>
              <a:avLst/>
              <a:gdLst/>
              <a:ahLst/>
              <a:cxnLst/>
              <a:rect l="l" t="t" r="r" b="b"/>
              <a:pathLst>
                <a:path w="395295" h="395295">
                  <a:moveTo>
                    <a:pt x="67057" y="0"/>
                  </a:moveTo>
                  <a:lnTo>
                    <a:pt x="328237" y="0"/>
                  </a:lnTo>
                  <a:cubicBezTo>
                    <a:pt x="365272" y="0"/>
                    <a:pt x="395295" y="30022"/>
                    <a:pt x="395295" y="67057"/>
                  </a:cubicBezTo>
                  <a:lnTo>
                    <a:pt x="395295" y="328237"/>
                  </a:lnTo>
                  <a:cubicBezTo>
                    <a:pt x="395295" y="346022"/>
                    <a:pt x="388230" y="363078"/>
                    <a:pt x="375654" y="375654"/>
                  </a:cubicBezTo>
                  <a:cubicBezTo>
                    <a:pt x="363078" y="388230"/>
                    <a:pt x="346022" y="395295"/>
                    <a:pt x="328237" y="395295"/>
                  </a:cubicBezTo>
                  <a:lnTo>
                    <a:pt x="67057" y="395295"/>
                  </a:lnTo>
                  <a:cubicBezTo>
                    <a:pt x="49272" y="395295"/>
                    <a:pt x="32216" y="388230"/>
                    <a:pt x="19641" y="375654"/>
                  </a:cubicBezTo>
                  <a:cubicBezTo>
                    <a:pt x="7065" y="363078"/>
                    <a:pt x="0" y="346022"/>
                    <a:pt x="0" y="328237"/>
                  </a:cubicBezTo>
                  <a:lnTo>
                    <a:pt x="0" y="67057"/>
                  </a:lnTo>
                  <a:cubicBezTo>
                    <a:pt x="0" y="49272"/>
                    <a:pt x="7065" y="32216"/>
                    <a:pt x="19641" y="19641"/>
                  </a:cubicBezTo>
                  <a:cubicBezTo>
                    <a:pt x="32216" y="7065"/>
                    <a:pt x="49272" y="0"/>
                    <a:pt x="67057" y="0"/>
                  </a:cubicBezTo>
                  <a:close/>
                </a:path>
              </a:pathLst>
            </a:custGeom>
            <a:solidFill>
              <a:srgbClr val="3C61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95295" cy="43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3029028" y="7692001"/>
            <a:ext cx="1500884" cy="1500884"/>
            <a:chOff x="0" y="0"/>
            <a:chExt cx="395295" cy="3952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5295" cy="395295"/>
            </a:xfrm>
            <a:custGeom>
              <a:avLst/>
              <a:gdLst/>
              <a:ahLst/>
              <a:cxnLst/>
              <a:rect l="l" t="t" r="r" b="b"/>
              <a:pathLst>
                <a:path w="395295" h="395295">
                  <a:moveTo>
                    <a:pt x="67057" y="0"/>
                  </a:moveTo>
                  <a:lnTo>
                    <a:pt x="328237" y="0"/>
                  </a:lnTo>
                  <a:cubicBezTo>
                    <a:pt x="365272" y="0"/>
                    <a:pt x="395295" y="30022"/>
                    <a:pt x="395295" y="67057"/>
                  </a:cubicBezTo>
                  <a:lnTo>
                    <a:pt x="395295" y="328237"/>
                  </a:lnTo>
                  <a:cubicBezTo>
                    <a:pt x="395295" y="346022"/>
                    <a:pt x="388230" y="363078"/>
                    <a:pt x="375654" y="375654"/>
                  </a:cubicBezTo>
                  <a:cubicBezTo>
                    <a:pt x="363078" y="388230"/>
                    <a:pt x="346022" y="395295"/>
                    <a:pt x="328237" y="395295"/>
                  </a:cubicBezTo>
                  <a:lnTo>
                    <a:pt x="67057" y="395295"/>
                  </a:lnTo>
                  <a:cubicBezTo>
                    <a:pt x="49272" y="395295"/>
                    <a:pt x="32216" y="388230"/>
                    <a:pt x="19641" y="375654"/>
                  </a:cubicBezTo>
                  <a:cubicBezTo>
                    <a:pt x="7065" y="363078"/>
                    <a:pt x="0" y="346022"/>
                    <a:pt x="0" y="328237"/>
                  </a:cubicBezTo>
                  <a:lnTo>
                    <a:pt x="0" y="67057"/>
                  </a:lnTo>
                  <a:cubicBezTo>
                    <a:pt x="0" y="49272"/>
                    <a:pt x="7065" y="32216"/>
                    <a:pt x="19641" y="19641"/>
                  </a:cubicBezTo>
                  <a:cubicBezTo>
                    <a:pt x="32216" y="7065"/>
                    <a:pt x="49272" y="0"/>
                    <a:pt x="67057" y="0"/>
                  </a:cubicBezTo>
                  <a:close/>
                </a:path>
              </a:pathLst>
            </a:custGeom>
            <a:solidFill>
              <a:srgbClr val="E7DED6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95295" cy="43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1311018" y="5120721"/>
            <a:ext cx="1759553" cy="0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N"/>
          </a:p>
        </p:txBody>
      </p:sp>
      <p:sp>
        <p:nvSpPr>
          <p:cNvPr id="16" name="AutoShape 16"/>
          <p:cNvSpPr/>
          <p:nvPr/>
        </p:nvSpPr>
        <p:spPr>
          <a:xfrm>
            <a:off x="6280436" y="4454588"/>
            <a:ext cx="696545" cy="666132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N"/>
          </a:p>
        </p:txBody>
      </p:sp>
      <p:sp>
        <p:nvSpPr>
          <p:cNvPr id="17" name="Freeform 17"/>
          <p:cNvSpPr/>
          <p:nvPr/>
        </p:nvSpPr>
        <p:spPr>
          <a:xfrm>
            <a:off x="13507046" y="4806754"/>
            <a:ext cx="627934" cy="627934"/>
          </a:xfrm>
          <a:custGeom>
            <a:avLst/>
            <a:gdLst/>
            <a:ahLst/>
            <a:cxnLst/>
            <a:rect l="l" t="t" r="r" b="b"/>
            <a:pathLst>
              <a:path w="627934" h="627934">
                <a:moveTo>
                  <a:pt x="0" y="0"/>
                </a:moveTo>
                <a:lnTo>
                  <a:pt x="627934" y="0"/>
                </a:lnTo>
                <a:lnTo>
                  <a:pt x="627934" y="627934"/>
                </a:lnTo>
                <a:lnTo>
                  <a:pt x="0" y="627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8" name="Freeform 18"/>
          <p:cNvSpPr/>
          <p:nvPr/>
        </p:nvSpPr>
        <p:spPr>
          <a:xfrm>
            <a:off x="5156465" y="3330615"/>
            <a:ext cx="747060" cy="747060"/>
          </a:xfrm>
          <a:custGeom>
            <a:avLst/>
            <a:gdLst/>
            <a:ahLst/>
            <a:cxnLst/>
            <a:rect l="l" t="t" r="r" b="b"/>
            <a:pathLst>
              <a:path w="747060" h="747060">
                <a:moveTo>
                  <a:pt x="0" y="0"/>
                </a:moveTo>
                <a:lnTo>
                  <a:pt x="747059" y="0"/>
                </a:lnTo>
                <a:lnTo>
                  <a:pt x="747059" y="747059"/>
                </a:lnTo>
                <a:lnTo>
                  <a:pt x="0" y="747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9" name="Freeform 19"/>
          <p:cNvSpPr/>
          <p:nvPr/>
        </p:nvSpPr>
        <p:spPr>
          <a:xfrm>
            <a:off x="3483149" y="8146122"/>
            <a:ext cx="592643" cy="592643"/>
          </a:xfrm>
          <a:custGeom>
            <a:avLst/>
            <a:gdLst/>
            <a:ahLst/>
            <a:cxnLst/>
            <a:rect l="l" t="t" r="r" b="b"/>
            <a:pathLst>
              <a:path w="592643" h="592643">
                <a:moveTo>
                  <a:pt x="0" y="0"/>
                </a:moveTo>
                <a:lnTo>
                  <a:pt x="592643" y="0"/>
                </a:lnTo>
                <a:lnTo>
                  <a:pt x="592643" y="592643"/>
                </a:lnTo>
                <a:lnTo>
                  <a:pt x="0" y="5926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20" name="TextBox 20"/>
          <p:cNvSpPr txBox="1"/>
          <p:nvPr/>
        </p:nvSpPr>
        <p:spPr>
          <a:xfrm>
            <a:off x="7283163" y="1795780"/>
            <a:ext cx="3721673" cy="482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Methodology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50685" y="3544144"/>
            <a:ext cx="2179228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Aha!</a:t>
            </a:r>
          </a:p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Basecamp</a:t>
            </a:r>
          </a:p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Githum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44073" y="4332179"/>
            <a:ext cx="2477883" cy="193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combination reflects an agile style where planning happens in stages, tasks move forward continuously, and progress is tracked visually.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50685" y="3023910"/>
            <a:ext cx="217922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Utensil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79553" y="7519599"/>
            <a:ext cx="320792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Analytical Methods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45416" y="1028700"/>
            <a:ext cx="3426020" cy="709930"/>
            <a:chOff x="0" y="0"/>
            <a:chExt cx="4568027" cy="94657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4343078" y="5120720"/>
            <a:ext cx="2633904" cy="2536445"/>
          </a:xfrm>
          <a:prstGeom prst="line">
            <a:avLst/>
          </a:prstGeom>
          <a:ln w="38100" cap="flat">
            <a:solidFill>
              <a:srgbClr val="A9B4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Box 2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46091" y="7905115"/>
            <a:ext cx="4283789" cy="165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just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Aha!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was used to map out the high-level roadmap, phases, and timelines</a:t>
            </a:r>
          </a:p>
          <a:p>
            <a:pPr marL="345439" lvl="1" indent="-172720" algn="just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Basecamp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helped with communication, tasks, and team collaboration</a:t>
            </a:r>
          </a:p>
          <a:p>
            <a:pPr marL="345439" lvl="1" indent="-172720" algn="just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Github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handled version control, code updates, and technical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3426020" cy="709930"/>
            <a:chOff x="0" y="0"/>
            <a:chExt cx="4568027" cy="9465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63288" y="2298755"/>
            <a:ext cx="12954357" cy="5689491"/>
            <a:chOff x="0" y="0"/>
            <a:chExt cx="3349732" cy="14711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49732" cy="1471186"/>
            </a:xfrm>
            <a:custGeom>
              <a:avLst/>
              <a:gdLst/>
              <a:ahLst/>
              <a:cxnLst/>
              <a:rect l="l" t="t" r="r" b="b"/>
              <a:pathLst>
                <a:path w="3349732" h="1471186">
                  <a:moveTo>
                    <a:pt x="30479" y="0"/>
                  </a:moveTo>
                  <a:lnTo>
                    <a:pt x="3319252" y="0"/>
                  </a:lnTo>
                  <a:cubicBezTo>
                    <a:pt x="3336086" y="0"/>
                    <a:pt x="3349732" y="13646"/>
                    <a:pt x="3349732" y="30479"/>
                  </a:cubicBezTo>
                  <a:lnTo>
                    <a:pt x="3349732" y="1440707"/>
                  </a:lnTo>
                  <a:cubicBezTo>
                    <a:pt x="3349732" y="1448790"/>
                    <a:pt x="3346521" y="1456543"/>
                    <a:pt x="3340805" y="1462259"/>
                  </a:cubicBezTo>
                  <a:cubicBezTo>
                    <a:pt x="3335089" y="1467975"/>
                    <a:pt x="3327336" y="1471186"/>
                    <a:pt x="3319252" y="1471186"/>
                  </a:cubicBezTo>
                  <a:lnTo>
                    <a:pt x="30479" y="1471186"/>
                  </a:lnTo>
                  <a:cubicBezTo>
                    <a:pt x="22396" y="1471186"/>
                    <a:pt x="14643" y="1467975"/>
                    <a:pt x="8927" y="1462259"/>
                  </a:cubicBezTo>
                  <a:cubicBezTo>
                    <a:pt x="3211" y="1456543"/>
                    <a:pt x="0" y="1448790"/>
                    <a:pt x="0" y="1440707"/>
                  </a:cubicBezTo>
                  <a:lnTo>
                    <a:pt x="0" y="30479"/>
                  </a:lnTo>
                  <a:cubicBezTo>
                    <a:pt x="0" y="22396"/>
                    <a:pt x="3211" y="14643"/>
                    <a:pt x="8927" y="8927"/>
                  </a:cubicBezTo>
                  <a:cubicBezTo>
                    <a:pt x="14643" y="3211"/>
                    <a:pt x="22396" y="0"/>
                    <a:pt x="30479" y="0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349732" cy="1528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170099" y="2636927"/>
            <a:ext cx="10945324" cy="4638081"/>
          </a:xfrm>
          <a:custGeom>
            <a:avLst/>
            <a:gdLst/>
            <a:ahLst/>
            <a:cxnLst/>
            <a:rect l="l" t="t" r="r" b="b"/>
            <a:pathLst>
              <a:path w="10945324" h="4638081">
                <a:moveTo>
                  <a:pt x="0" y="0"/>
                </a:moveTo>
                <a:lnTo>
                  <a:pt x="10945324" y="0"/>
                </a:lnTo>
                <a:lnTo>
                  <a:pt x="10945324" y="4638081"/>
                </a:lnTo>
                <a:lnTo>
                  <a:pt x="0" y="4638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9" name="TextBox 9"/>
          <p:cNvSpPr txBox="1"/>
          <p:nvPr/>
        </p:nvSpPr>
        <p:spPr>
          <a:xfrm>
            <a:off x="6584126" y="1398588"/>
            <a:ext cx="411727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 Roadmap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54412" y="8150170"/>
            <a:ext cx="11976699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Using Aha! to Organize the Project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Entered all project tasks and grouped them into key stages: planning, auditing, data analysis, and dashboard development.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Added timelines for each stage to visualize the workflow from start to finish.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Aha! automatically generated a clear project roadmap, making it easy to track progress and present the overall plan.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666046" y="7515378"/>
            <a:ext cx="151328" cy="15132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76581" y="7435150"/>
            <a:ext cx="11038842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62676F"/>
                </a:solidFill>
                <a:latin typeface="TT Fors"/>
                <a:ea typeface="TT Fors"/>
                <a:cs typeface="TT Fors"/>
                <a:sym typeface="TT Fors"/>
              </a:rPr>
              <a:t>Aha! Roadmap: </a:t>
            </a:r>
            <a:r>
              <a:rPr lang="en-US" sz="1599" u="sng">
                <a:solidFill>
                  <a:srgbClr val="62676F"/>
                </a:solidFill>
                <a:latin typeface="TT Fors"/>
                <a:ea typeface="TT Fors"/>
                <a:cs typeface="TT Fors"/>
                <a:sym typeface="TT Fors"/>
                <a:hlinkClick r:id="rId4" tooltip="https://kcp-technologies.aha.io/bookmarks/roadmaps/7574113798618798674/7575648461849214960"/>
              </a:rPr>
              <a:t>https://kcp-technologies.aha.io/bookmarks/roadmaps/7574113798618798674/7575648461849214960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324484" y="8273949"/>
            <a:ext cx="62406" cy="892902"/>
            <a:chOff x="0" y="0"/>
            <a:chExt cx="16436" cy="2351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436" cy="235168"/>
            </a:xfrm>
            <a:custGeom>
              <a:avLst/>
              <a:gdLst/>
              <a:ahLst/>
              <a:cxnLst/>
              <a:rect l="l" t="t" r="r" b="b"/>
              <a:pathLst>
                <a:path w="16436" h="235168">
                  <a:moveTo>
                    <a:pt x="8218" y="0"/>
                  </a:moveTo>
                  <a:lnTo>
                    <a:pt x="8218" y="0"/>
                  </a:lnTo>
                  <a:cubicBezTo>
                    <a:pt x="10398" y="0"/>
                    <a:pt x="12488" y="866"/>
                    <a:pt x="14029" y="2407"/>
                  </a:cubicBezTo>
                  <a:cubicBezTo>
                    <a:pt x="15570" y="3948"/>
                    <a:pt x="16436" y="6038"/>
                    <a:pt x="16436" y="8218"/>
                  </a:cubicBezTo>
                  <a:lnTo>
                    <a:pt x="16436" y="226950"/>
                  </a:lnTo>
                  <a:cubicBezTo>
                    <a:pt x="16436" y="231488"/>
                    <a:pt x="12757" y="235168"/>
                    <a:pt x="8218" y="235168"/>
                  </a:cubicBezTo>
                  <a:lnTo>
                    <a:pt x="8218" y="235168"/>
                  </a:lnTo>
                  <a:cubicBezTo>
                    <a:pt x="3679" y="235168"/>
                    <a:pt x="0" y="231488"/>
                    <a:pt x="0" y="226950"/>
                  </a:cubicBezTo>
                  <a:lnTo>
                    <a:pt x="0" y="8218"/>
                  </a:lnTo>
                  <a:cubicBezTo>
                    <a:pt x="0" y="3679"/>
                    <a:pt x="3679" y="0"/>
                    <a:pt x="8218" y="0"/>
                  </a:cubicBezTo>
                  <a:close/>
                </a:path>
              </a:pathLst>
            </a:custGeom>
            <a:solidFill>
              <a:srgbClr val="BEC8DA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436" cy="273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3028" y="-1504080"/>
            <a:ext cx="2045299" cy="7367309"/>
            <a:chOff x="0" y="0"/>
            <a:chExt cx="1148238" cy="41360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8238" cy="4136033"/>
            </a:xfrm>
            <a:custGeom>
              <a:avLst/>
              <a:gdLst/>
              <a:ahLst/>
              <a:cxnLst/>
              <a:rect l="l" t="t" r="r" b="b"/>
              <a:pathLst>
                <a:path w="1148238" h="4136033">
                  <a:moveTo>
                    <a:pt x="574119" y="4136033"/>
                  </a:moveTo>
                  <a:lnTo>
                    <a:pt x="0" y="3729633"/>
                  </a:lnTo>
                  <a:lnTo>
                    <a:pt x="203200" y="3729633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3729633"/>
                  </a:lnTo>
                  <a:lnTo>
                    <a:pt x="1148238" y="3729633"/>
                  </a:lnTo>
                  <a:lnTo>
                    <a:pt x="574119" y="4136033"/>
                  </a:lnTo>
                  <a:close/>
                </a:path>
              </a:pathLst>
            </a:custGeom>
            <a:solidFill>
              <a:srgbClr val="F68D55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3200" y="-38100"/>
              <a:ext cx="741838" cy="4072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32628" y="-1504080"/>
            <a:ext cx="2045299" cy="6435539"/>
            <a:chOff x="0" y="0"/>
            <a:chExt cx="1148238" cy="36129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8238" cy="3612935"/>
            </a:xfrm>
            <a:custGeom>
              <a:avLst/>
              <a:gdLst/>
              <a:ahLst/>
              <a:cxnLst/>
              <a:rect l="l" t="t" r="r" b="b"/>
              <a:pathLst>
                <a:path w="1148238" h="3612935">
                  <a:moveTo>
                    <a:pt x="574119" y="3612935"/>
                  </a:moveTo>
                  <a:lnTo>
                    <a:pt x="0" y="3206534"/>
                  </a:lnTo>
                  <a:lnTo>
                    <a:pt x="203200" y="3206534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3206534"/>
                  </a:lnTo>
                  <a:lnTo>
                    <a:pt x="1148238" y="3206534"/>
                  </a:lnTo>
                  <a:lnTo>
                    <a:pt x="574119" y="3612935"/>
                  </a:lnTo>
                  <a:close/>
                </a:path>
              </a:pathLst>
            </a:custGeom>
            <a:solidFill>
              <a:srgbClr val="BEC8DA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3200" y="-38100"/>
              <a:ext cx="741838" cy="354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50847" y="-1504080"/>
            <a:ext cx="2045299" cy="5503770"/>
            <a:chOff x="0" y="0"/>
            <a:chExt cx="1148238" cy="30898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8238" cy="3089836"/>
            </a:xfrm>
            <a:custGeom>
              <a:avLst/>
              <a:gdLst/>
              <a:ahLst/>
              <a:cxnLst/>
              <a:rect l="l" t="t" r="r" b="b"/>
              <a:pathLst>
                <a:path w="1148238" h="3089836">
                  <a:moveTo>
                    <a:pt x="574119" y="3089836"/>
                  </a:moveTo>
                  <a:lnTo>
                    <a:pt x="0" y="2683436"/>
                  </a:lnTo>
                  <a:lnTo>
                    <a:pt x="203200" y="2683436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2683436"/>
                  </a:lnTo>
                  <a:lnTo>
                    <a:pt x="1148238" y="2683436"/>
                  </a:lnTo>
                  <a:lnTo>
                    <a:pt x="574119" y="3089836"/>
                  </a:lnTo>
                  <a:close/>
                </a:path>
              </a:pathLst>
            </a:custGeom>
            <a:solidFill>
              <a:srgbClr val="3C61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3200" y="-38100"/>
              <a:ext cx="741838" cy="3026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52347" y="-1504080"/>
            <a:ext cx="2045299" cy="4572000"/>
            <a:chOff x="0" y="0"/>
            <a:chExt cx="1148238" cy="25667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48238" cy="2566737"/>
            </a:xfrm>
            <a:custGeom>
              <a:avLst/>
              <a:gdLst/>
              <a:ahLst/>
              <a:cxnLst/>
              <a:rect l="l" t="t" r="r" b="b"/>
              <a:pathLst>
                <a:path w="1148238" h="2566737">
                  <a:moveTo>
                    <a:pt x="574119" y="2566737"/>
                  </a:moveTo>
                  <a:lnTo>
                    <a:pt x="0" y="2160337"/>
                  </a:lnTo>
                  <a:lnTo>
                    <a:pt x="203200" y="2160337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2160337"/>
                  </a:lnTo>
                  <a:lnTo>
                    <a:pt x="1148238" y="2160337"/>
                  </a:lnTo>
                  <a:lnTo>
                    <a:pt x="574119" y="2566737"/>
                  </a:ln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3200" y="-38100"/>
              <a:ext cx="741838" cy="2503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58606" y="6453119"/>
            <a:ext cx="157072" cy="892902"/>
            <a:chOff x="0" y="0"/>
            <a:chExt cx="41369" cy="2351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369" cy="235168"/>
            </a:xfrm>
            <a:custGeom>
              <a:avLst/>
              <a:gdLst/>
              <a:ahLst/>
              <a:cxnLst/>
              <a:rect l="l" t="t" r="r" b="b"/>
              <a:pathLst>
                <a:path w="41369" h="235168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F68D55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276742" y="5407050"/>
            <a:ext cx="157072" cy="892902"/>
            <a:chOff x="0" y="0"/>
            <a:chExt cx="41369" cy="23516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369" cy="235168"/>
            </a:xfrm>
            <a:custGeom>
              <a:avLst/>
              <a:gdLst/>
              <a:ahLst/>
              <a:cxnLst/>
              <a:rect l="l" t="t" r="r" b="b"/>
              <a:pathLst>
                <a:path w="41369" h="235168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BEC8DA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73497" y="4376614"/>
            <a:ext cx="157072" cy="892902"/>
            <a:chOff x="0" y="0"/>
            <a:chExt cx="41369" cy="2351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369" cy="235168"/>
            </a:xfrm>
            <a:custGeom>
              <a:avLst/>
              <a:gdLst/>
              <a:ahLst/>
              <a:cxnLst/>
              <a:rect l="l" t="t" r="r" b="b"/>
              <a:pathLst>
                <a:path w="41369" h="235168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3C619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74997" y="3192969"/>
            <a:ext cx="157072" cy="892902"/>
            <a:chOff x="0" y="0"/>
            <a:chExt cx="41369" cy="23516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1369" cy="235168"/>
            </a:xfrm>
            <a:custGeom>
              <a:avLst/>
              <a:gdLst/>
              <a:ahLst/>
              <a:cxnLst/>
              <a:rect l="l" t="t" r="r" b="b"/>
              <a:pathLst>
                <a:path w="41369" h="235168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12235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486426" y="3518843"/>
            <a:ext cx="4023531" cy="2039481"/>
            <a:chOff x="0" y="0"/>
            <a:chExt cx="1040403" cy="5273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0403" cy="527368"/>
            </a:xfrm>
            <a:custGeom>
              <a:avLst/>
              <a:gdLst/>
              <a:ahLst/>
              <a:cxnLst/>
              <a:rect l="l" t="t" r="r" b="b"/>
              <a:pathLst>
                <a:path w="1040403" h="527368">
                  <a:moveTo>
                    <a:pt x="98132" y="0"/>
                  </a:moveTo>
                  <a:lnTo>
                    <a:pt x="942271" y="0"/>
                  </a:lnTo>
                  <a:cubicBezTo>
                    <a:pt x="996467" y="0"/>
                    <a:pt x="1040403" y="43935"/>
                    <a:pt x="1040403" y="98132"/>
                  </a:cubicBezTo>
                  <a:lnTo>
                    <a:pt x="1040403" y="429236"/>
                  </a:lnTo>
                  <a:cubicBezTo>
                    <a:pt x="1040403" y="455262"/>
                    <a:pt x="1030064" y="480223"/>
                    <a:pt x="1011661" y="498626"/>
                  </a:cubicBezTo>
                  <a:cubicBezTo>
                    <a:pt x="993257" y="517029"/>
                    <a:pt x="968297" y="527368"/>
                    <a:pt x="942271" y="527368"/>
                  </a:cubicBezTo>
                  <a:lnTo>
                    <a:pt x="98132" y="527368"/>
                  </a:lnTo>
                  <a:cubicBezTo>
                    <a:pt x="43935" y="527368"/>
                    <a:pt x="0" y="483433"/>
                    <a:pt x="0" y="429236"/>
                  </a:cubicBezTo>
                  <a:lnTo>
                    <a:pt x="0" y="98132"/>
                  </a:lnTo>
                  <a:cubicBezTo>
                    <a:pt x="0" y="72106"/>
                    <a:pt x="10339" y="47146"/>
                    <a:pt x="28742" y="28742"/>
                  </a:cubicBezTo>
                  <a:cubicBezTo>
                    <a:pt x="47146" y="10339"/>
                    <a:pt x="72106" y="0"/>
                    <a:pt x="98132" y="0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040403" cy="5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67342" y="6048637"/>
            <a:ext cx="6042615" cy="2997631"/>
            <a:chOff x="0" y="0"/>
            <a:chExt cx="1562497" cy="77512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62497" cy="775126"/>
            </a:xfrm>
            <a:custGeom>
              <a:avLst/>
              <a:gdLst/>
              <a:ahLst/>
              <a:cxnLst/>
              <a:rect l="l" t="t" r="r" b="b"/>
              <a:pathLst>
                <a:path w="1562497" h="775126">
                  <a:moveTo>
                    <a:pt x="65342" y="0"/>
                  </a:moveTo>
                  <a:lnTo>
                    <a:pt x="1497154" y="0"/>
                  </a:lnTo>
                  <a:cubicBezTo>
                    <a:pt x="1533242" y="0"/>
                    <a:pt x="1562497" y="29255"/>
                    <a:pt x="1562497" y="65342"/>
                  </a:cubicBezTo>
                  <a:lnTo>
                    <a:pt x="1562497" y="709784"/>
                  </a:lnTo>
                  <a:cubicBezTo>
                    <a:pt x="1562497" y="745871"/>
                    <a:pt x="1533242" y="775126"/>
                    <a:pt x="1497154" y="775126"/>
                  </a:cubicBezTo>
                  <a:lnTo>
                    <a:pt x="65342" y="775126"/>
                  </a:lnTo>
                  <a:cubicBezTo>
                    <a:pt x="48012" y="775126"/>
                    <a:pt x="31392" y="768242"/>
                    <a:pt x="19138" y="755988"/>
                  </a:cubicBezTo>
                  <a:cubicBezTo>
                    <a:pt x="6884" y="743734"/>
                    <a:pt x="0" y="727114"/>
                    <a:pt x="0" y="709784"/>
                  </a:cubicBezTo>
                  <a:lnTo>
                    <a:pt x="0" y="65342"/>
                  </a:lnTo>
                  <a:cubicBezTo>
                    <a:pt x="0" y="48012"/>
                    <a:pt x="6884" y="31392"/>
                    <a:pt x="19138" y="19138"/>
                  </a:cubicBezTo>
                  <a:cubicBezTo>
                    <a:pt x="31392" y="6884"/>
                    <a:pt x="48012" y="0"/>
                    <a:pt x="65342" y="0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562497" cy="832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833280" y="781920"/>
            <a:ext cx="3426020" cy="709930"/>
            <a:chOff x="0" y="0"/>
            <a:chExt cx="4568027" cy="94657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1752891" y="6604660"/>
            <a:ext cx="5444586" cy="1678832"/>
          </a:xfrm>
          <a:custGeom>
            <a:avLst/>
            <a:gdLst/>
            <a:ahLst/>
            <a:cxnLst/>
            <a:rect l="l" t="t" r="r" b="b"/>
            <a:pathLst>
              <a:path w="5444586" h="1678832">
                <a:moveTo>
                  <a:pt x="0" y="0"/>
                </a:moveTo>
                <a:lnTo>
                  <a:pt x="5444586" y="0"/>
                </a:lnTo>
                <a:lnTo>
                  <a:pt x="5444586" y="1678832"/>
                </a:lnTo>
                <a:lnTo>
                  <a:pt x="0" y="1678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" t="-1186" b="-1186"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36" name="Freeform 36"/>
          <p:cNvSpPr/>
          <p:nvPr/>
        </p:nvSpPr>
        <p:spPr>
          <a:xfrm>
            <a:off x="13869279" y="3953736"/>
            <a:ext cx="3230426" cy="1169695"/>
          </a:xfrm>
          <a:custGeom>
            <a:avLst/>
            <a:gdLst/>
            <a:ahLst/>
            <a:cxnLst/>
            <a:rect l="l" t="t" r="r" b="b"/>
            <a:pathLst>
              <a:path w="3230426" h="1169695">
                <a:moveTo>
                  <a:pt x="0" y="0"/>
                </a:moveTo>
                <a:lnTo>
                  <a:pt x="3230426" y="0"/>
                </a:lnTo>
                <a:lnTo>
                  <a:pt x="3230426" y="1169695"/>
                </a:lnTo>
                <a:lnTo>
                  <a:pt x="0" y="1169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629" r="-15569"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37" name="Group 37"/>
          <p:cNvGrpSpPr/>
          <p:nvPr/>
        </p:nvGrpSpPr>
        <p:grpSpPr>
          <a:xfrm>
            <a:off x="11790260" y="8593849"/>
            <a:ext cx="151328" cy="151328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869279" y="5275778"/>
            <a:ext cx="151328" cy="151328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28700" y="8291918"/>
            <a:ext cx="1010553" cy="754350"/>
            <a:chOff x="0" y="0"/>
            <a:chExt cx="334418" cy="24963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34418" cy="249634"/>
            </a:xfrm>
            <a:custGeom>
              <a:avLst/>
              <a:gdLst/>
              <a:ahLst/>
              <a:cxnLst/>
              <a:rect l="l" t="t" r="r" b="b"/>
              <a:pathLst>
                <a:path w="334418" h="249634">
                  <a:moveTo>
                    <a:pt x="124817" y="0"/>
                  </a:moveTo>
                  <a:lnTo>
                    <a:pt x="209601" y="0"/>
                  </a:lnTo>
                  <a:cubicBezTo>
                    <a:pt x="242705" y="0"/>
                    <a:pt x="274452" y="13150"/>
                    <a:pt x="297860" y="36558"/>
                  </a:cubicBezTo>
                  <a:cubicBezTo>
                    <a:pt x="321268" y="59966"/>
                    <a:pt x="334418" y="91713"/>
                    <a:pt x="334418" y="124817"/>
                  </a:cubicBezTo>
                  <a:lnTo>
                    <a:pt x="334418" y="124817"/>
                  </a:lnTo>
                  <a:cubicBezTo>
                    <a:pt x="334418" y="157921"/>
                    <a:pt x="321268" y="189668"/>
                    <a:pt x="297860" y="213076"/>
                  </a:cubicBezTo>
                  <a:cubicBezTo>
                    <a:pt x="274452" y="236484"/>
                    <a:pt x="242705" y="249634"/>
                    <a:pt x="209601" y="249634"/>
                  </a:cubicBezTo>
                  <a:lnTo>
                    <a:pt x="124817" y="249634"/>
                  </a:lnTo>
                  <a:cubicBezTo>
                    <a:pt x="91713" y="249634"/>
                    <a:pt x="59966" y="236484"/>
                    <a:pt x="36558" y="213076"/>
                  </a:cubicBezTo>
                  <a:cubicBezTo>
                    <a:pt x="13150" y="189668"/>
                    <a:pt x="0" y="157921"/>
                    <a:pt x="0" y="124817"/>
                  </a:cubicBezTo>
                  <a:lnTo>
                    <a:pt x="0" y="124817"/>
                  </a:lnTo>
                  <a:cubicBezTo>
                    <a:pt x="0" y="91713"/>
                    <a:pt x="13150" y="59966"/>
                    <a:pt x="36558" y="36558"/>
                  </a:cubicBezTo>
                  <a:cubicBezTo>
                    <a:pt x="59966" y="13150"/>
                    <a:pt x="91713" y="0"/>
                    <a:pt x="1248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47D3D"/>
              </a:solidFill>
              <a:prstDash val="lgDash"/>
              <a:rou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34418" cy="287734"/>
            </a:xfrm>
            <a:prstGeom prst="rect">
              <a:avLst/>
            </a:prstGeom>
          </p:spPr>
          <p:txBody>
            <a:bodyPr lIns="55500" tIns="55500" rIns="55500" bIns="555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864951" y="8283492"/>
            <a:ext cx="2214809" cy="762776"/>
            <a:chOff x="0" y="0"/>
            <a:chExt cx="732938" cy="25242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2938" cy="252422"/>
            </a:xfrm>
            <a:custGeom>
              <a:avLst/>
              <a:gdLst/>
              <a:ahLst/>
              <a:cxnLst/>
              <a:rect l="l" t="t" r="r" b="b"/>
              <a:pathLst>
                <a:path w="732938" h="252422">
                  <a:moveTo>
                    <a:pt x="90884" y="0"/>
                  </a:moveTo>
                  <a:lnTo>
                    <a:pt x="642054" y="0"/>
                  </a:lnTo>
                  <a:cubicBezTo>
                    <a:pt x="666158" y="0"/>
                    <a:pt x="689274" y="9575"/>
                    <a:pt x="706318" y="26619"/>
                  </a:cubicBezTo>
                  <a:cubicBezTo>
                    <a:pt x="723362" y="43663"/>
                    <a:pt x="732938" y="66780"/>
                    <a:pt x="732938" y="90884"/>
                  </a:cubicBezTo>
                  <a:lnTo>
                    <a:pt x="732938" y="161539"/>
                  </a:lnTo>
                  <a:cubicBezTo>
                    <a:pt x="732938" y="211732"/>
                    <a:pt x="692248" y="252422"/>
                    <a:pt x="642054" y="252422"/>
                  </a:cubicBezTo>
                  <a:lnTo>
                    <a:pt x="90884" y="252422"/>
                  </a:lnTo>
                  <a:cubicBezTo>
                    <a:pt x="66780" y="252422"/>
                    <a:pt x="43663" y="242847"/>
                    <a:pt x="26619" y="225803"/>
                  </a:cubicBezTo>
                  <a:cubicBezTo>
                    <a:pt x="9575" y="208759"/>
                    <a:pt x="0" y="185643"/>
                    <a:pt x="0" y="161539"/>
                  </a:cubicBezTo>
                  <a:lnTo>
                    <a:pt x="0" y="90884"/>
                  </a:lnTo>
                  <a:cubicBezTo>
                    <a:pt x="0" y="66780"/>
                    <a:pt x="9575" y="43663"/>
                    <a:pt x="26619" y="26619"/>
                  </a:cubicBezTo>
                  <a:cubicBezTo>
                    <a:pt x="43663" y="9575"/>
                    <a:pt x="66780" y="0"/>
                    <a:pt x="9088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732938" cy="290522"/>
            </a:xfrm>
            <a:prstGeom prst="rect">
              <a:avLst/>
            </a:prstGeom>
          </p:spPr>
          <p:txBody>
            <a:bodyPr lIns="55500" tIns="55500" rIns="55500" bIns="555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030149" y="8283492"/>
            <a:ext cx="2214809" cy="762776"/>
            <a:chOff x="0" y="0"/>
            <a:chExt cx="732938" cy="25242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32938" cy="252422"/>
            </a:xfrm>
            <a:custGeom>
              <a:avLst/>
              <a:gdLst/>
              <a:ahLst/>
              <a:cxnLst/>
              <a:rect l="l" t="t" r="r" b="b"/>
              <a:pathLst>
                <a:path w="732938" h="252422">
                  <a:moveTo>
                    <a:pt x="90884" y="0"/>
                  </a:moveTo>
                  <a:lnTo>
                    <a:pt x="642054" y="0"/>
                  </a:lnTo>
                  <a:cubicBezTo>
                    <a:pt x="666158" y="0"/>
                    <a:pt x="689274" y="9575"/>
                    <a:pt x="706318" y="26619"/>
                  </a:cubicBezTo>
                  <a:cubicBezTo>
                    <a:pt x="723362" y="43663"/>
                    <a:pt x="732938" y="66780"/>
                    <a:pt x="732938" y="90884"/>
                  </a:cubicBezTo>
                  <a:lnTo>
                    <a:pt x="732938" y="161539"/>
                  </a:lnTo>
                  <a:cubicBezTo>
                    <a:pt x="732938" y="211732"/>
                    <a:pt x="692248" y="252422"/>
                    <a:pt x="642054" y="252422"/>
                  </a:cubicBezTo>
                  <a:lnTo>
                    <a:pt x="90884" y="252422"/>
                  </a:lnTo>
                  <a:cubicBezTo>
                    <a:pt x="66780" y="252422"/>
                    <a:pt x="43663" y="242847"/>
                    <a:pt x="26619" y="225803"/>
                  </a:cubicBezTo>
                  <a:cubicBezTo>
                    <a:pt x="9575" y="208759"/>
                    <a:pt x="0" y="185643"/>
                    <a:pt x="0" y="161539"/>
                  </a:cubicBezTo>
                  <a:lnTo>
                    <a:pt x="0" y="90884"/>
                  </a:lnTo>
                  <a:cubicBezTo>
                    <a:pt x="0" y="66780"/>
                    <a:pt x="9575" y="43663"/>
                    <a:pt x="26619" y="26619"/>
                  </a:cubicBezTo>
                  <a:cubicBezTo>
                    <a:pt x="43663" y="9575"/>
                    <a:pt x="66780" y="0"/>
                    <a:pt x="9088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32938" cy="290522"/>
            </a:xfrm>
            <a:prstGeom prst="rect">
              <a:avLst/>
            </a:prstGeom>
          </p:spPr>
          <p:txBody>
            <a:bodyPr lIns="55500" tIns="55500" rIns="55500" bIns="555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195346" y="8268466"/>
            <a:ext cx="2214809" cy="777802"/>
            <a:chOff x="0" y="0"/>
            <a:chExt cx="732938" cy="25739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32938" cy="257395"/>
            </a:xfrm>
            <a:custGeom>
              <a:avLst/>
              <a:gdLst/>
              <a:ahLst/>
              <a:cxnLst/>
              <a:rect l="l" t="t" r="r" b="b"/>
              <a:pathLst>
                <a:path w="732938" h="257395">
                  <a:moveTo>
                    <a:pt x="90884" y="0"/>
                  </a:moveTo>
                  <a:lnTo>
                    <a:pt x="642054" y="0"/>
                  </a:lnTo>
                  <a:cubicBezTo>
                    <a:pt x="666158" y="0"/>
                    <a:pt x="689274" y="9575"/>
                    <a:pt x="706318" y="26619"/>
                  </a:cubicBezTo>
                  <a:cubicBezTo>
                    <a:pt x="723362" y="43663"/>
                    <a:pt x="732938" y="66780"/>
                    <a:pt x="732938" y="90884"/>
                  </a:cubicBezTo>
                  <a:lnTo>
                    <a:pt x="732938" y="166511"/>
                  </a:lnTo>
                  <a:cubicBezTo>
                    <a:pt x="732938" y="216705"/>
                    <a:pt x="692248" y="257395"/>
                    <a:pt x="642054" y="257395"/>
                  </a:cubicBezTo>
                  <a:lnTo>
                    <a:pt x="90884" y="257395"/>
                  </a:lnTo>
                  <a:cubicBezTo>
                    <a:pt x="66780" y="257395"/>
                    <a:pt x="43663" y="247820"/>
                    <a:pt x="26619" y="230776"/>
                  </a:cubicBezTo>
                  <a:cubicBezTo>
                    <a:pt x="9575" y="213732"/>
                    <a:pt x="0" y="190615"/>
                    <a:pt x="0" y="166511"/>
                  </a:cubicBezTo>
                  <a:lnTo>
                    <a:pt x="0" y="90884"/>
                  </a:lnTo>
                  <a:cubicBezTo>
                    <a:pt x="0" y="66780"/>
                    <a:pt x="9575" y="43663"/>
                    <a:pt x="26619" y="26619"/>
                  </a:cubicBezTo>
                  <a:cubicBezTo>
                    <a:pt x="43663" y="9575"/>
                    <a:pt x="66780" y="0"/>
                    <a:pt x="9088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732938" cy="295495"/>
            </a:xfrm>
            <a:prstGeom prst="rect">
              <a:avLst/>
            </a:prstGeom>
          </p:spPr>
          <p:txBody>
            <a:bodyPr lIns="55500" tIns="55500" rIns="55500" bIns="555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475245" y="8503229"/>
            <a:ext cx="489813" cy="331728"/>
            <a:chOff x="0" y="0"/>
            <a:chExt cx="812800" cy="550472"/>
          </a:xfrm>
        </p:grpSpPr>
        <p:sp>
          <p:nvSpPr>
            <p:cNvPr id="56" name="Freeform 56"/>
            <p:cNvSpPr/>
            <p:nvPr/>
          </p:nvSpPr>
          <p:spPr>
            <a:xfrm>
              <a:off x="0" y="22262"/>
              <a:ext cx="787645" cy="505947"/>
            </a:xfrm>
            <a:custGeom>
              <a:avLst/>
              <a:gdLst/>
              <a:ahLst/>
              <a:cxnLst/>
              <a:rect l="l" t="t" r="r" b="b"/>
              <a:pathLst>
                <a:path w="787645" h="505947">
                  <a:moveTo>
                    <a:pt x="773539" y="226384"/>
                  </a:moveTo>
                  <a:lnTo>
                    <a:pt x="445661" y="4328"/>
                  </a:lnTo>
                  <a:cubicBezTo>
                    <a:pt x="437952" y="-893"/>
                    <a:pt x="427991" y="-1429"/>
                    <a:pt x="419766" y="2934"/>
                  </a:cubicBezTo>
                  <a:cubicBezTo>
                    <a:pt x="411542" y="7297"/>
                    <a:pt x="406400" y="15846"/>
                    <a:pt x="406400" y="25156"/>
                  </a:cubicBezTo>
                  <a:lnTo>
                    <a:pt x="406400" y="133520"/>
                  </a:lnTo>
                  <a:cubicBezTo>
                    <a:pt x="406400" y="159708"/>
                    <a:pt x="385170" y="180938"/>
                    <a:pt x="358982" y="180938"/>
                  </a:cubicBezTo>
                  <a:lnTo>
                    <a:pt x="47418" y="180938"/>
                  </a:lnTo>
                  <a:cubicBezTo>
                    <a:pt x="21230" y="180938"/>
                    <a:pt x="0" y="202168"/>
                    <a:pt x="0" y="228356"/>
                  </a:cubicBezTo>
                  <a:lnTo>
                    <a:pt x="0" y="277592"/>
                  </a:lnTo>
                  <a:cubicBezTo>
                    <a:pt x="0" y="303780"/>
                    <a:pt x="21230" y="325010"/>
                    <a:pt x="47418" y="325010"/>
                  </a:cubicBezTo>
                  <a:lnTo>
                    <a:pt x="358982" y="325010"/>
                  </a:lnTo>
                  <a:cubicBezTo>
                    <a:pt x="385170" y="325010"/>
                    <a:pt x="406400" y="346239"/>
                    <a:pt x="406400" y="372427"/>
                  </a:cubicBezTo>
                  <a:lnTo>
                    <a:pt x="406400" y="480792"/>
                  </a:lnTo>
                  <a:cubicBezTo>
                    <a:pt x="406400" y="490102"/>
                    <a:pt x="411542" y="498651"/>
                    <a:pt x="419766" y="503014"/>
                  </a:cubicBezTo>
                  <a:cubicBezTo>
                    <a:pt x="427991" y="507377"/>
                    <a:pt x="437952" y="506841"/>
                    <a:pt x="445661" y="501620"/>
                  </a:cubicBezTo>
                  <a:lnTo>
                    <a:pt x="773539" y="279563"/>
                  </a:lnTo>
                  <a:cubicBezTo>
                    <a:pt x="782361" y="273589"/>
                    <a:pt x="787645" y="263628"/>
                    <a:pt x="787645" y="252974"/>
                  </a:cubicBezTo>
                  <a:cubicBezTo>
                    <a:pt x="787645" y="242319"/>
                    <a:pt x="782361" y="232359"/>
                    <a:pt x="773539" y="226384"/>
                  </a:cubicBezTo>
                  <a:close/>
                </a:path>
              </a:pathLst>
            </a:custGeom>
            <a:solidFill>
              <a:srgbClr val="214184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165100"/>
              <a:ext cx="711200" cy="182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888220" y="6785834"/>
            <a:ext cx="6170554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Planning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Project Initiation, Campaign Materials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Transition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Dashboard, Documentation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Execution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Sensor Installation, Data Analysis, Audit Report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888220" y="6415019"/>
            <a:ext cx="521193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Hill Chart Progress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24670" y="5754632"/>
            <a:ext cx="5083280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Project Charter, technical specs, meeting notes, GitHub repository link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824670" y="5383817"/>
            <a:ext cx="529574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Docs &amp; Files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442889" y="4561718"/>
            <a:ext cx="6031406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Kickoff: </a:t>
            </a: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Sept 23, 2025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| Sensor Installation: </a:t>
            </a: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Oct 15-Nov 15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| Dashboard: </a:t>
            </a: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Oct 1-Nov 30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| Deadline: </a:t>
            </a: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Dec 1, 2025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Ontario Holidays: Christmas (</a:t>
            </a: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Dec 25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), Boxing Day (</a:t>
            </a: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Dec 26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)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42889" y="4231879"/>
            <a:ext cx="529574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Schedule &amp; Milestones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310596" y="3236832"/>
            <a:ext cx="5785305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7 workstreams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covering Project Initiation, Sensor Installation, Dashboard Development, Data Analysis, Audit Report, Campaign Materials, and Documentation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10596" y="2911077"/>
            <a:ext cx="529574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To-Do Lists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46285" y="4649991"/>
            <a:ext cx="938785" cy="39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885886" y="3751185"/>
            <a:ext cx="938785" cy="39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504104" y="2852379"/>
            <a:ext cx="938785" cy="39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205605" y="1957911"/>
            <a:ext cx="938785" cy="39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405342" y="1716642"/>
            <a:ext cx="692787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Plan-Using Basecamp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2125773" y="8513621"/>
            <a:ext cx="111092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Hill Chart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172849" y="5195549"/>
            <a:ext cx="182001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Status: On Track ✅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60928" y="8381451"/>
            <a:ext cx="778010" cy="55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1"/>
              </a:lnSpc>
              <a:spcBef>
                <a:spcPct val="0"/>
              </a:spcBef>
            </a:pPr>
            <a:r>
              <a:rPr lang="en-US" sz="165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Critical Path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179144" y="8381451"/>
            <a:ext cx="1586423" cy="49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5"/>
              </a:lnSpc>
              <a:spcBef>
                <a:spcPct val="0"/>
              </a:spcBef>
            </a:pPr>
            <a:r>
              <a:rPr lang="en-US" sz="1432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 Development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301608" y="8440644"/>
            <a:ext cx="1764131" cy="49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5"/>
              </a:lnSpc>
              <a:spcBef>
                <a:spcPct val="0"/>
              </a:spcBef>
            </a:pPr>
            <a:r>
              <a:rPr lang="en-US" sz="1432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Energy Data Integration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409693" y="8421381"/>
            <a:ext cx="1764131" cy="49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5"/>
              </a:lnSpc>
              <a:spcBef>
                <a:spcPct val="0"/>
              </a:spcBef>
            </a:pPr>
            <a:r>
              <a:rPr lang="en-US" sz="1432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Sensor Network Installation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7311632" y="8499016"/>
            <a:ext cx="489813" cy="331728"/>
            <a:chOff x="0" y="0"/>
            <a:chExt cx="812800" cy="550472"/>
          </a:xfrm>
        </p:grpSpPr>
        <p:sp>
          <p:nvSpPr>
            <p:cNvPr id="78" name="Freeform 78"/>
            <p:cNvSpPr/>
            <p:nvPr/>
          </p:nvSpPr>
          <p:spPr>
            <a:xfrm>
              <a:off x="0" y="22262"/>
              <a:ext cx="787645" cy="505947"/>
            </a:xfrm>
            <a:custGeom>
              <a:avLst/>
              <a:gdLst/>
              <a:ahLst/>
              <a:cxnLst/>
              <a:rect l="l" t="t" r="r" b="b"/>
              <a:pathLst>
                <a:path w="787645" h="505947">
                  <a:moveTo>
                    <a:pt x="773539" y="226384"/>
                  </a:moveTo>
                  <a:lnTo>
                    <a:pt x="445661" y="4328"/>
                  </a:lnTo>
                  <a:cubicBezTo>
                    <a:pt x="437952" y="-893"/>
                    <a:pt x="427991" y="-1429"/>
                    <a:pt x="419766" y="2934"/>
                  </a:cubicBezTo>
                  <a:cubicBezTo>
                    <a:pt x="411542" y="7297"/>
                    <a:pt x="406400" y="15846"/>
                    <a:pt x="406400" y="25156"/>
                  </a:cubicBezTo>
                  <a:lnTo>
                    <a:pt x="406400" y="133520"/>
                  </a:lnTo>
                  <a:cubicBezTo>
                    <a:pt x="406400" y="159708"/>
                    <a:pt x="385170" y="180938"/>
                    <a:pt x="358982" y="180938"/>
                  </a:cubicBezTo>
                  <a:lnTo>
                    <a:pt x="47418" y="180938"/>
                  </a:lnTo>
                  <a:cubicBezTo>
                    <a:pt x="21230" y="180938"/>
                    <a:pt x="0" y="202168"/>
                    <a:pt x="0" y="228356"/>
                  </a:cubicBezTo>
                  <a:lnTo>
                    <a:pt x="0" y="277592"/>
                  </a:lnTo>
                  <a:cubicBezTo>
                    <a:pt x="0" y="303780"/>
                    <a:pt x="21230" y="325010"/>
                    <a:pt x="47418" y="325010"/>
                  </a:cubicBezTo>
                  <a:lnTo>
                    <a:pt x="358982" y="325010"/>
                  </a:lnTo>
                  <a:cubicBezTo>
                    <a:pt x="385170" y="325010"/>
                    <a:pt x="406400" y="346239"/>
                    <a:pt x="406400" y="372427"/>
                  </a:cubicBezTo>
                  <a:lnTo>
                    <a:pt x="406400" y="480792"/>
                  </a:lnTo>
                  <a:cubicBezTo>
                    <a:pt x="406400" y="490102"/>
                    <a:pt x="411542" y="498651"/>
                    <a:pt x="419766" y="503014"/>
                  </a:cubicBezTo>
                  <a:cubicBezTo>
                    <a:pt x="427991" y="507377"/>
                    <a:pt x="437952" y="506841"/>
                    <a:pt x="445661" y="501620"/>
                  </a:cubicBezTo>
                  <a:lnTo>
                    <a:pt x="773539" y="279563"/>
                  </a:lnTo>
                  <a:cubicBezTo>
                    <a:pt x="782361" y="273589"/>
                    <a:pt x="787645" y="263628"/>
                    <a:pt x="787645" y="252974"/>
                  </a:cubicBezTo>
                  <a:cubicBezTo>
                    <a:pt x="787645" y="242319"/>
                    <a:pt x="782361" y="232359"/>
                    <a:pt x="773539" y="226384"/>
                  </a:cubicBezTo>
                  <a:close/>
                </a:path>
              </a:pathLst>
            </a:custGeom>
            <a:solidFill>
              <a:srgbClr val="3E63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165100"/>
              <a:ext cx="711200" cy="182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516269" y="2361167"/>
            <a:ext cx="577975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u="sng">
                <a:solidFill>
                  <a:srgbClr val="62676F"/>
                </a:solidFill>
                <a:latin typeface="TT Fors"/>
                <a:ea typeface="TT Fors"/>
                <a:cs typeface="TT Fors"/>
                <a:sym typeface="TT Fors"/>
                <a:hlinkClick r:id="rId5" tooltip="https://3.basecamp.com/6076110/projects/44813742"/>
              </a:rPr>
              <a:t>https://3.basecamp.com/6076110/projects/44813742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405342" y="2370692"/>
            <a:ext cx="111092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62676F"/>
                </a:solidFill>
                <a:latin typeface="TT Fors"/>
                <a:ea typeface="TT Fors"/>
                <a:cs typeface="TT Fors"/>
                <a:sym typeface="TT Fors"/>
              </a:rPr>
              <a:t>Basecamp: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3426020" cy="709930"/>
            <a:chOff x="0" y="0"/>
            <a:chExt cx="4568027" cy="9465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69715" y="2966581"/>
            <a:ext cx="7206387" cy="5474234"/>
            <a:chOff x="0" y="0"/>
            <a:chExt cx="1863424" cy="14155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3424" cy="1415525"/>
            </a:xfrm>
            <a:custGeom>
              <a:avLst/>
              <a:gdLst/>
              <a:ahLst/>
              <a:cxnLst/>
              <a:rect l="l" t="t" r="r" b="b"/>
              <a:pathLst>
                <a:path w="1863424" h="1415525">
                  <a:moveTo>
                    <a:pt x="54790" y="0"/>
                  </a:moveTo>
                  <a:lnTo>
                    <a:pt x="1808634" y="0"/>
                  </a:lnTo>
                  <a:cubicBezTo>
                    <a:pt x="1823165" y="0"/>
                    <a:pt x="1837101" y="5773"/>
                    <a:pt x="1847377" y="16048"/>
                  </a:cubicBezTo>
                  <a:cubicBezTo>
                    <a:pt x="1857652" y="26323"/>
                    <a:pt x="1863424" y="40259"/>
                    <a:pt x="1863424" y="54790"/>
                  </a:cubicBezTo>
                  <a:lnTo>
                    <a:pt x="1863424" y="1360735"/>
                  </a:lnTo>
                  <a:cubicBezTo>
                    <a:pt x="1863424" y="1390995"/>
                    <a:pt x="1838894" y="1415525"/>
                    <a:pt x="1808634" y="1415525"/>
                  </a:cubicBezTo>
                  <a:lnTo>
                    <a:pt x="54790" y="1415525"/>
                  </a:lnTo>
                  <a:cubicBezTo>
                    <a:pt x="24530" y="1415525"/>
                    <a:pt x="0" y="1390995"/>
                    <a:pt x="0" y="1360735"/>
                  </a:cubicBezTo>
                  <a:lnTo>
                    <a:pt x="0" y="54790"/>
                  </a:lnTo>
                  <a:cubicBezTo>
                    <a:pt x="0" y="24530"/>
                    <a:pt x="24530" y="0"/>
                    <a:pt x="54790" y="0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63424" cy="1472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02190" y="3017738"/>
            <a:ext cx="1238171" cy="123817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02190" y="5230400"/>
            <a:ext cx="1238171" cy="123817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18779" y="7448086"/>
            <a:ext cx="1238171" cy="123817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03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4395869" y="3823252"/>
            <a:ext cx="4462381" cy="884363"/>
          </a:xfrm>
          <a:custGeom>
            <a:avLst/>
            <a:gdLst/>
            <a:ahLst/>
            <a:cxnLst/>
            <a:rect l="l" t="t" r="r" b="b"/>
            <a:pathLst>
              <a:path w="4462381" h="884363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8" name="Freeform 18"/>
          <p:cNvSpPr/>
          <p:nvPr/>
        </p:nvSpPr>
        <p:spPr>
          <a:xfrm>
            <a:off x="4395869" y="6040938"/>
            <a:ext cx="5560931" cy="884363"/>
          </a:xfrm>
          <a:custGeom>
            <a:avLst/>
            <a:gdLst/>
            <a:ahLst/>
            <a:cxnLst/>
            <a:rect l="l" t="t" r="r" b="b"/>
            <a:pathLst>
              <a:path w="5560931" h="884363">
                <a:moveTo>
                  <a:pt x="0" y="0"/>
                </a:moveTo>
                <a:lnTo>
                  <a:pt x="5560931" y="0"/>
                </a:lnTo>
                <a:lnTo>
                  <a:pt x="556093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t="-12309" b="-12309"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19" name="Group 19"/>
          <p:cNvGrpSpPr/>
          <p:nvPr/>
        </p:nvGrpSpPr>
        <p:grpSpPr>
          <a:xfrm>
            <a:off x="4399015" y="2774549"/>
            <a:ext cx="4459235" cy="1714500"/>
            <a:chOff x="0" y="0"/>
            <a:chExt cx="1174449" cy="4515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74449" cy="451556"/>
            </a:xfrm>
            <a:custGeom>
              <a:avLst/>
              <a:gdLst/>
              <a:ahLst/>
              <a:cxnLst/>
              <a:rect l="l" t="t" r="r" b="b"/>
              <a:pathLst>
                <a:path w="1174449" h="451556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99015" y="4992235"/>
            <a:ext cx="5557785" cy="1714500"/>
            <a:chOff x="0" y="0"/>
            <a:chExt cx="1463779" cy="4515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3779" cy="451556"/>
            </a:xfrm>
            <a:custGeom>
              <a:avLst/>
              <a:gdLst/>
              <a:ahLst/>
              <a:cxnLst/>
              <a:rect l="l" t="t" r="r" b="b"/>
              <a:pathLst>
                <a:path w="1463779" h="451556">
                  <a:moveTo>
                    <a:pt x="27860" y="0"/>
                  </a:moveTo>
                  <a:lnTo>
                    <a:pt x="1435919" y="0"/>
                  </a:lnTo>
                  <a:cubicBezTo>
                    <a:pt x="1443308" y="0"/>
                    <a:pt x="1450394" y="2935"/>
                    <a:pt x="1455619" y="8160"/>
                  </a:cubicBezTo>
                  <a:cubicBezTo>
                    <a:pt x="1460844" y="13385"/>
                    <a:pt x="1463779" y="20471"/>
                    <a:pt x="1463779" y="27860"/>
                  </a:cubicBezTo>
                  <a:lnTo>
                    <a:pt x="1463779" y="423696"/>
                  </a:lnTo>
                  <a:cubicBezTo>
                    <a:pt x="1463779" y="431085"/>
                    <a:pt x="1460844" y="438171"/>
                    <a:pt x="1455619" y="443396"/>
                  </a:cubicBezTo>
                  <a:cubicBezTo>
                    <a:pt x="1450394" y="448620"/>
                    <a:pt x="1443308" y="451556"/>
                    <a:pt x="1435919" y="451556"/>
                  </a:cubicBezTo>
                  <a:lnTo>
                    <a:pt x="27860" y="451556"/>
                  </a:lnTo>
                  <a:cubicBezTo>
                    <a:pt x="20471" y="451556"/>
                    <a:pt x="13385" y="448620"/>
                    <a:pt x="8160" y="443396"/>
                  </a:cubicBezTo>
                  <a:cubicBezTo>
                    <a:pt x="2935" y="438171"/>
                    <a:pt x="0" y="431085"/>
                    <a:pt x="0" y="423696"/>
                  </a:cubicBezTo>
                  <a:lnTo>
                    <a:pt x="0" y="27860"/>
                  </a:lnTo>
                  <a:cubicBezTo>
                    <a:pt x="0" y="20471"/>
                    <a:pt x="2935" y="13385"/>
                    <a:pt x="8160" y="8160"/>
                  </a:cubicBezTo>
                  <a:cubicBezTo>
                    <a:pt x="13385" y="2935"/>
                    <a:pt x="20471" y="0"/>
                    <a:pt x="2786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6377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4395869" y="8258624"/>
            <a:ext cx="6178571" cy="884363"/>
          </a:xfrm>
          <a:custGeom>
            <a:avLst/>
            <a:gdLst/>
            <a:ahLst/>
            <a:cxnLst/>
            <a:rect l="l" t="t" r="r" b="b"/>
            <a:pathLst>
              <a:path w="6178571" h="884363">
                <a:moveTo>
                  <a:pt x="0" y="0"/>
                </a:moveTo>
                <a:lnTo>
                  <a:pt x="6178571" y="0"/>
                </a:lnTo>
                <a:lnTo>
                  <a:pt x="617857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t="-19229" b="-19229"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26" name="Group 26"/>
          <p:cNvGrpSpPr/>
          <p:nvPr/>
        </p:nvGrpSpPr>
        <p:grpSpPr>
          <a:xfrm>
            <a:off x="4399015" y="7209921"/>
            <a:ext cx="6175425" cy="1714500"/>
            <a:chOff x="0" y="0"/>
            <a:chExt cx="1626449" cy="4515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26449" cy="451556"/>
            </a:xfrm>
            <a:custGeom>
              <a:avLst/>
              <a:gdLst/>
              <a:ahLst/>
              <a:cxnLst/>
              <a:rect l="l" t="t" r="r" b="b"/>
              <a:pathLst>
                <a:path w="1626449" h="451556">
                  <a:moveTo>
                    <a:pt x="25073" y="0"/>
                  </a:moveTo>
                  <a:lnTo>
                    <a:pt x="1601376" y="0"/>
                  </a:lnTo>
                  <a:cubicBezTo>
                    <a:pt x="1615224" y="0"/>
                    <a:pt x="1626449" y="11226"/>
                    <a:pt x="1626449" y="25073"/>
                  </a:cubicBezTo>
                  <a:lnTo>
                    <a:pt x="1626449" y="426482"/>
                  </a:lnTo>
                  <a:cubicBezTo>
                    <a:pt x="1626449" y="433132"/>
                    <a:pt x="1623808" y="439510"/>
                    <a:pt x="1619106" y="444212"/>
                  </a:cubicBezTo>
                  <a:cubicBezTo>
                    <a:pt x="1614403" y="448914"/>
                    <a:pt x="1608026" y="451556"/>
                    <a:pt x="1601376" y="451556"/>
                  </a:cubicBezTo>
                  <a:lnTo>
                    <a:pt x="25073" y="451556"/>
                  </a:lnTo>
                  <a:cubicBezTo>
                    <a:pt x="18423" y="451556"/>
                    <a:pt x="12046" y="448914"/>
                    <a:pt x="7344" y="444212"/>
                  </a:cubicBezTo>
                  <a:cubicBezTo>
                    <a:pt x="2642" y="439510"/>
                    <a:pt x="0" y="433132"/>
                    <a:pt x="0" y="426482"/>
                  </a:cubicBezTo>
                  <a:lnTo>
                    <a:pt x="0" y="25073"/>
                  </a:lnTo>
                  <a:cubicBezTo>
                    <a:pt x="0" y="18423"/>
                    <a:pt x="2642" y="12046"/>
                    <a:pt x="7344" y="7344"/>
                  </a:cubicBezTo>
                  <a:cubicBezTo>
                    <a:pt x="12046" y="2642"/>
                    <a:pt x="18423" y="0"/>
                    <a:pt x="250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62644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454720" y="7409986"/>
            <a:ext cx="6119720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Sensing Layer: Smart meters, motion/temperature sensors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Layer: GCP (Compute Engine, Storage, BigQuery)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Analytics: Energy forecasting, anomaly detection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Control: Siemens Desigo CC via BACnet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Interface: Dashboard for facility managers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291298" y="3527228"/>
            <a:ext cx="209142" cy="209142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291298" y="5744914"/>
            <a:ext cx="209142" cy="209142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291298" y="7962600"/>
            <a:ext cx="209142" cy="209142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3040361" y="3631799"/>
            <a:ext cx="1250937" cy="5024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N"/>
          </a:p>
        </p:txBody>
      </p:sp>
      <p:sp>
        <p:nvSpPr>
          <p:cNvPr id="40" name="AutoShape 40"/>
          <p:cNvSpPr/>
          <p:nvPr/>
        </p:nvSpPr>
        <p:spPr>
          <a:xfrm flipV="1">
            <a:off x="3040361" y="5849485"/>
            <a:ext cx="1250937" cy="0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N"/>
          </a:p>
        </p:txBody>
      </p:sp>
      <p:sp>
        <p:nvSpPr>
          <p:cNvPr id="41" name="AutoShape 41"/>
          <p:cNvSpPr/>
          <p:nvPr/>
        </p:nvSpPr>
        <p:spPr>
          <a:xfrm>
            <a:off x="3056950" y="8067171"/>
            <a:ext cx="1234348" cy="0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N"/>
          </a:p>
        </p:txBody>
      </p:sp>
      <p:grpSp>
        <p:nvGrpSpPr>
          <p:cNvPr id="42" name="Group 42"/>
          <p:cNvGrpSpPr/>
          <p:nvPr/>
        </p:nvGrpSpPr>
        <p:grpSpPr>
          <a:xfrm>
            <a:off x="3466416" y="2476500"/>
            <a:ext cx="361099" cy="2610091"/>
            <a:chOff x="0" y="0"/>
            <a:chExt cx="95104" cy="68743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5104" cy="687431"/>
            </a:xfrm>
            <a:custGeom>
              <a:avLst/>
              <a:gdLst/>
              <a:ahLst/>
              <a:cxnLst/>
              <a:rect l="l" t="t" r="r" b="b"/>
              <a:pathLst>
                <a:path w="95104" h="687431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39879"/>
                  </a:lnTo>
                  <a:cubicBezTo>
                    <a:pt x="95104" y="666142"/>
                    <a:pt x="73814" y="687431"/>
                    <a:pt x="47552" y="687431"/>
                  </a:cubicBezTo>
                  <a:lnTo>
                    <a:pt x="47552" y="687431"/>
                  </a:lnTo>
                  <a:cubicBezTo>
                    <a:pt x="21290" y="687431"/>
                    <a:pt x="0" y="666142"/>
                    <a:pt x="0" y="639879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12235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95104" cy="725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466416" y="4707615"/>
            <a:ext cx="361099" cy="2502306"/>
            <a:chOff x="0" y="0"/>
            <a:chExt cx="95104" cy="65904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5104" cy="659044"/>
            </a:xfrm>
            <a:custGeom>
              <a:avLst/>
              <a:gdLst/>
              <a:ahLst/>
              <a:cxnLst/>
              <a:rect l="l" t="t" r="r" b="b"/>
              <a:pathLst>
                <a:path w="95104" h="65904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11492"/>
                  </a:lnTo>
                  <a:cubicBezTo>
                    <a:pt x="95104" y="637754"/>
                    <a:pt x="73814" y="659044"/>
                    <a:pt x="47552" y="659044"/>
                  </a:cubicBezTo>
                  <a:lnTo>
                    <a:pt x="47552" y="659044"/>
                  </a:lnTo>
                  <a:cubicBezTo>
                    <a:pt x="21290" y="659044"/>
                    <a:pt x="0" y="637754"/>
                    <a:pt x="0" y="61149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3C619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95104" cy="697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466416" y="6992705"/>
            <a:ext cx="361099" cy="2148932"/>
            <a:chOff x="0" y="0"/>
            <a:chExt cx="95104" cy="56597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5104" cy="565974"/>
            </a:xfrm>
            <a:custGeom>
              <a:avLst/>
              <a:gdLst/>
              <a:ahLst/>
              <a:cxnLst/>
              <a:rect l="l" t="t" r="r" b="b"/>
              <a:pathLst>
                <a:path w="95104" h="56597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518422"/>
                  </a:lnTo>
                  <a:cubicBezTo>
                    <a:pt x="95104" y="544684"/>
                    <a:pt x="73814" y="565974"/>
                    <a:pt x="47552" y="565974"/>
                  </a:cubicBezTo>
                  <a:lnTo>
                    <a:pt x="47552" y="565974"/>
                  </a:lnTo>
                  <a:cubicBezTo>
                    <a:pt x="21290" y="565974"/>
                    <a:pt x="0" y="544684"/>
                    <a:pt x="0" y="51842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BEC8D9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95104" cy="604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240143" y="7991507"/>
            <a:ext cx="151328" cy="151328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  <a:endParaRPr/>
            </a:p>
          </p:txBody>
        </p:sp>
      </p:grpSp>
      <p:sp>
        <p:nvSpPr>
          <p:cNvPr id="54" name="Freeform 54"/>
          <p:cNvSpPr/>
          <p:nvPr/>
        </p:nvSpPr>
        <p:spPr>
          <a:xfrm>
            <a:off x="11671294" y="3631799"/>
            <a:ext cx="5603228" cy="3942006"/>
          </a:xfrm>
          <a:custGeom>
            <a:avLst/>
            <a:gdLst/>
            <a:ahLst/>
            <a:cxnLst/>
            <a:rect l="l" t="t" r="r" b="b"/>
            <a:pathLst>
              <a:path w="5603228" h="3942006">
                <a:moveTo>
                  <a:pt x="0" y="0"/>
                </a:moveTo>
                <a:lnTo>
                  <a:pt x="5603228" y="0"/>
                </a:lnTo>
                <a:lnTo>
                  <a:pt x="5603228" y="3942007"/>
                </a:lnTo>
                <a:lnTo>
                  <a:pt x="0" y="3942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868" r="-40213"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55" name="TextBox 55"/>
          <p:cNvSpPr txBox="1"/>
          <p:nvPr/>
        </p:nvSpPr>
        <p:spPr>
          <a:xfrm>
            <a:off x="2741710" y="1316990"/>
            <a:ext cx="1285072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586730" y="2928481"/>
            <a:ext cx="4083805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 campus-wide Smart Energy Management System integrating IoT sensors, cloud analytics, and automated building controls to reduce energy consumption and improve operational efficiency.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454720" y="4669515"/>
            <a:ext cx="202051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Core Features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500440" y="6906251"/>
            <a:ext cx="252344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System Architecture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395869" y="5105400"/>
            <a:ext cx="5179920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3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energy monitoring</a:t>
            </a:r>
          </a:p>
          <a:p>
            <a:pPr marL="345443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Predictive modeling for demand optimization</a:t>
            </a:r>
          </a:p>
          <a:p>
            <a:pPr marL="345443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Automated HVAC and lighting control</a:t>
            </a:r>
          </a:p>
          <a:p>
            <a:pPr marL="345443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Alerts for abnormal consumption</a:t>
            </a:r>
          </a:p>
          <a:p>
            <a:pPr marL="345443" lvl="1" indent="-172721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Campus-wide usage visualizations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454720" y="2382119"/>
            <a:ext cx="21281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Project Purpose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553396" y="7911279"/>
            <a:ext cx="222256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Repository Structure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802190" y="9562087"/>
            <a:ext cx="928723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u="sng">
                <a:solidFill>
                  <a:srgbClr val="62676F"/>
                </a:solidFill>
                <a:latin typeface="TT Fors"/>
                <a:ea typeface="TT Fors"/>
                <a:cs typeface="TT Fors"/>
                <a:sym typeface="TT Fors"/>
                <a:hlinkClick r:id="rId5" tooltip="https://github.com/GangtieAda/Group001_project-Smart-Campus-Energy-Management-System"/>
              </a:rPr>
              <a:t>https://github.com/GangtieAda/Group001_project-Smart-Campus-Energy-Management-System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28700" y="9562087"/>
            <a:ext cx="222256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62676F"/>
                </a:solidFill>
                <a:latin typeface="TT Fors"/>
                <a:ea typeface="TT Fors"/>
                <a:cs typeface="TT Fors"/>
                <a:sym typeface="TT Fors"/>
              </a:rPr>
              <a:t>Github: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96837" y="0"/>
            <a:ext cx="15862989" cy="10271286"/>
          </a:xfrm>
          <a:custGeom>
            <a:avLst/>
            <a:gdLst/>
            <a:ahLst/>
            <a:cxnLst/>
            <a:rect l="l" t="t" r="r" b="b"/>
            <a:pathLst>
              <a:path w="15862989" h="10271286">
                <a:moveTo>
                  <a:pt x="0" y="0"/>
                </a:moveTo>
                <a:lnTo>
                  <a:pt x="15862989" y="0"/>
                </a:lnTo>
                <a:lnTo>
                  <a:pt x="15862989" y="10271286"/>
                </a:lnTo>
                <a:lnTo>
                  <a:pt x="0" y="102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3" name="Group 3"/>
          <p:cNvGrpSpPr/>
          <p:nvPr/>
        </p:nvGrpSpPr>
        <p:grpSpPr>
          <a:xfrm>
            <a:off x="197591" y="7835220"/>
            <a:ext cx="5291070" cy="1573892"/>
            <a:chOff x="0" y="0"/>
            <a:chExt cx="1341649" cy="3990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41649" cy="399090"/>
            </a:xfrm>
            <a:custGeom>
              <a:avLst/>
              <a:gdLst/>
              <a:ahLst/>
              <a:cxnLst/>
              <a:rect l="l" t="t" r="r" b="b"/>
              <a:pathLst>
                <a:path w="1341649" h="399090">
                  <a:moveTo>
                    <a:pt x="146321" y="0"/>
                  </a:moveTo>
                  <a:lnTo>
                    <a:pt x="1195328" y="0"/>
                  </a:lnTo>
                  <a:cubicBezTo>
                    <a:pt x="1234135" y="0"/>
                    <a:pt x="1271352" y="15416"/>
                    <a:pt x="1298793" y="42856"/>
                  </a:cubicBezTo>
                  <a:cubicBezTo>
                    <a:pt x="1326233" y="70297"/>
                    <a:pt x="1341649" y="107514"/>
                    <a:pt x="1341649" y="146321"/>
                  </a:cubicBezTo>
                  <a:lnTo>
                    <a:pt x="1341649" y="252769"/>
                  </a:lnTo>
                  <a:cubicBezTo>
                    <a:pt x="1341649" y="291576"/>
                    <a:pt x="1326233" y="328793"/>
                    <a:pt x="1298793" y="356233"/>
                  </a:cubicBezTo>
                  <a:cubicBezTo>
                    <a:pt x="1271352" y="383674"/>
                    <a:pt x="1234135" y="399090"/>
                    <a:pt x="1195328" y="399090"/>
                  </a:cubicBezTo>
                  <a:lnTo>
                    <a:pt x="146321" y="399090"/>
                  </a:lnTo>
                  <a:cubicBezTo>
                    <a:pt x="65510" y="399090"/>
                    <a:pt x="0" y="333580"/>
                    <a:pt x="0" y="252769"/>
                  </a:cubicBezTo>
                  <a:lnTo>
                    <a:pt x="0" y="146321"/>
                  </a:lnTo>
                  <a:cubicBezTo>
                    <a:pt x="0" y="107514"/>
                    <a:pt x="15416" y="70297"/>
                    <a:pt x="42856" y="42856"/>
                  </a:cubicBezTo>
                  <a:cubicBezTo>
                    <a:pt x="70297" y="15416"/>
                    <a:pt x="107514" y="0"/>
                    <a:pt x="14632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41649" cy="437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745116" y="1227530"/>
            <a:ext cx="891794" cy="1000610"/>
          </a:xfrm>
          <a:custGeom>
            <a:avLst/>
            <a:gdLst/>
            <a:ahLst/>
            <a:cxnLst/>
            <a:rect l="l" t="t" r="r" b="b"/>
            <a:pathLst>
              <a:path w="891794" h="1000610">
                <a:moveTo>
                  <a:pt x="0" y="0"/>
                </a:moveTo>
                <a:lnTo>
                  <a:pt x="891794" y="0"/>
                </a:lnTo>
                <a:lnTo>
                  <a:pt x="891794" y="1000610"/>
                </a:lnTo>
                <a:lnTo>
                  <a:pt x="0" y="1000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7" name="Freeform 7"/>
          <p:cNvSpPr/>
          <p:nvPr/>
        </p:nvSpPr>
        <p:spPr>
          <a:xfrm>
            <a:off x="9862196" y="1227530"/>
            <a:ext cx="891794" cy="1000610"/>
          </a:xfrm>
          <a:custGeom>
            <a:avLst/>
            <a:gdLst/>
            <a:ahLst/>
            <a:cxnLst/>
            <a:rect l="l" t="t" r="r" b="b"/>
            <a:pathLst>
              <a:path w="891794" h="1000610">
                <a:moveTo>
                  <a:pt x="0" y="0"/>
                </a:moveTo>
                <a:lnTo>
                  <a:pt x="891794" y="0"/>
                </a:lnTo>
                <a:lnTo>
                  <a:pt x="891794" y="1000610"/>
                </a:lnTo>
                <a:lnTo>
                  <a:pt x="0" y="1000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8" name="Freeform 8"/>
          <p:cNvSpPr/>
          <p:nvPr/>
        </p:nvSpPr>
        <p:spPr>
          <a:xfrm>
            <a:off x="6288761" y="7413065"/>
            <a:ext cx="891794" cy="1000610"/>
          </a:xfrm>
          <a:custGeom>
            <a:avLst/>
            <a:gdLst/>
            <a:ahLst/>
            <a:cxnLst/>
            <a:rect l="l" t="t" r="r" b="b"/>
            <a:pathLst>
              <a:path w="891794" h="1000610">
                <a:moveTo>
                  <a:pt x="0" y="0"/>
                </a:moveTo>
                <a:lnTo>
                  <a:pt x="891794" y="0"/>
                </a:lnTo>
                <a:lnTo>
                  <a:pt x="891794" y="1000610"/>
                </a:lnTo>
                <a:lnTo>
                  <a:pt x="0" y="10006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9" name="Freeform 9"/>
          <p:cNvSpPr/>
          <p:nvPr/>
        </p:nvSpPr>
        <p:spPr>
          <a:xfrm>
            <a:off x="13687058" y="5233863"/>
            <a:ext cx="891794" cy="1000610"/>
          </a:xfrm>
          <a:custGeom>
            <a:avLst/>
            <a:gdLst/>
            <a:ahLst/>
            <a:cxnLst/>
            <a:rect l="l" t="t" r="r" b="b"/>
            <a:pathLst>
              <a:path w="891794" h="1000610">
                <a:moveTo>
                  <a:pt x="0" y="0"/>
                </a:moveTo>
                <a:lnTo>
                  <a:pt x="891794" y="0"/>
                </a:lnTo>
                <a:lnTo>
                  <a:pt x="891794" y="1000610"/>
                </a:lnTo>
                <a:lnTo>
                  <a:pt x="0" y="1000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0" name="TextBox 10"/>
          <p:cNvSpPr txBox="1"/>
          <p:nvPr/>
        </p:nvSpPr>
        <p:spPr>
          <a:xfrm>
            <a:off x="581116" y="6387036"/>
            <a:ext cx="385061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 &amp; Deleverables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1116" y="8006122"/>
            <a:ext cx="4524020" cy="120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3"/>
              </a:lnSpc>
              <a:spcBef>
                <a:spcPct val="0"/>
              </a:spcBef>
            </a:pPr>
            <a:r>
              <a:rPr lang="en-US" sz="14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project offers a practical system for smarter campus energy management. Through data analysis, IoT sensors, and a real-time dashboard, it helps monitor and reduce energy use while supporting long-term sustainability.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26485" y="1875715"/>
            <a:ext cx="4426581" cy="94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 charter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Technical Specifications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 reports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98725" y="1875715"/>
            <a:ext cx="5760575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Cleaned and processed energy datasets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Energy audit report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Forecasting models and data insights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 sensor network setup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Installed and configured iot energy sensors</a:t>
            </a:r>
          </a:p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Installation and calibration report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29228" y="7374965"/>
            <a:ext cx="5157730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energy monitoring dashboard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Mobile application for students and staff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 data reports and usage charts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Final project report and documentation archive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468103" y="1521124"/>
            <a:ext cx="396479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planning documents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82665" y="1423620"/>
            <a:ext cx="391454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Energy consumption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29228" y="6839473"/>
            <a:ext cx="358787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Final technology outputs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99642" y="5728479"/>
            <a:ext cx="2966472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Workshop materials and presentation slides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Campaign schedules</a:t>
            </a:r>
          </a:p>
          <a:p>
            <a:pPr marL="388618" lvl="1" indent="-194309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Engagement tracking reports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99642" y="4943619"/>
            <a:ext cx="326117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Educational &amp; engagement materials</a:t>
            </a:r>
          </a:p>
        </p:txBody>
      </p:sp>
      <p:sp>
        <p:nvSpPr>
          <p:cNvPr id="20" name="Freeform 20"/>
          <p:cNvSpPr/>
          <p:nvPr/>
        </p:nvSpPr>
        <p:spPr>
          <a:xfrm>
            <a:off x="3006769" y="1471245"/>
            <a:ext cx="368489" cy="368489"/>
          </a:xfrm>
          <a:custGeom>
            <a:avLst/>
            <a:gdLst/>
            <a:ahLst/>
            <a:cxnLst/>
            <a:rect l="l" t="t" r="r" b="b"/>
            <a:pathLst>
              <a:path w="368489" h="368489">
                <a:moveTo>
                  <a:pt x="0" y="0"/>
                </a:moveTo>
                <a:lnTo>
                  <a:pt x="368488" y="0"/>
                </a:lnTo>
                <a:lnTo>
                  <a:pt x="368488" y="368489"/>
                </a:lnTo>
                <a:lnTo>
                  <a:pt x="0" y="3684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1" name="Freeform 21"/>
          <p:cNvSpPr/>
          <p:nvPr/>
        </p:nvSpPr>
        <p:spPr>
          <a:xfrm>
            <a:off x="10131681" y="1486911"/>
            <a:ext cx="352823" cy="352823"/>
          </a:xfrm>
          <a:custGeom>
            <a:avLst/>
            <a:gdLst/>
            <a:ahLst/>
            <a:cxnLst/>
            <a:rect l="l" t="t" r="r" b="b"/>
            <a:pathLst>
              <a:path w="352823" h="352823">
                <a:moveTo>
                  <a:pt x="0" y="0"/>
                </a:moveTo>
                <a:lnTo>
                  <a:pt x="352824" y="0"/>
                </a:lnTo>
                <a:lnTo>
                  <a:pt x="352824" y="352823"/>
                </a:lnTo>
                <a:lnTo>
                  <a:pt x="0" y="3528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CN"/>
          </a:p>
        </p:txBody>
      </p:sp>
      <p:sp>
        <p:nvSpPr>
          <p:cNvPr id="22" name="Freeform 22"/>
          <p:cNvSpPr/>
          <p:nvPr/>
        </p:nvSpPr>
        <p:spPr>
          <a:xfrm>
            <a:off x="6539776" y="7631953"/>
            <a:ext cx="389764" cy="406534"/>
          </a:xfrm>
          <a:custGeom>
            <a:avLst/>
            <a:gdLst/>
            <a:ahLst/>
            <a:cxnLst/>
            <a:rect l="l" t="t" r="r" b="b"/>
            <a:pathLst>
              <a:path w="389764" h="406534">
                <a:moveTo>
                  <a:pt x="0" y="0"/>
                </a:moveTo>
                <a:lnTo>
                  <a:pt x="389764" y="0"/>
                </a:lnTo>
                <a:lnTo>
                  <a:pt x="389764" y="406534"/>
                </a:lnTo>
                <a:lnTo>
                  <a:pt x="0" y="4065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23" name="Freeform 23"/>
          <p:cNvSpPr/>
          <p:nvPr/>
        </p:nvSpPr>
        <p:spPr>
          <a:xfrm>
            <a:off x="13891319" y="5468472"/>
            <a:ext cx="424763" cy="424763"/>
          </a:xfrm>
          <a:custGeom>
            <a:avLst/>
            <a:gdLst/>
            <a:ahLst/>
            <a:cxnLst/>
            <a:rect l="l" t="t" r="r" b="b"/>
            <a:pathLst>
              <a:path w="424763" h="424763">
                <a:moveTo>
                  <a:pt x="0" y="0"/>
                </a:moveTo>
                <a:lnTo>
                  <a:pt x="424763" y="0"/>
                </a:lnTo>
                <a:lnTo>
                  <a:pt x="424763" y="424764"/>
                </a:lnTo>
                <a:lnTo>
                  <a:pt x="0" y="42476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grpSp>
        <p:nvGrpSpPr>
          <p:cNvPr id="24" name="Group 24"/>
          <p:cNvGrpSpPr/>
          <p:nvPr/>
        </p:nvGrpSpPr>
        <p:grpSpPr>
          <a:xfrm>
            <a:off x="14103700" y="673735"/>
            <a:ext cx="3426020" cy="709930"/>
            <a:chOff x="0" y="0"/>
            <a:chExt cx="4568027" cy="94657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9900" y="2731750"/>
            <a:ext cx="2427419" cy="940922"/>
            <a:chOff x="0" y="0"/>
            <a:chExt cx="3236559" cy="1254563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0"/>
              <a:ext cx="3236559" cy="370733"/>
            </a:xfrm>
            <a:custGeom>
              <a:avLst/>
              <a:gdLst/>
              <a:ahLst/>
              <a:cxnLst/>
              <a:rect l="l" t="t" r="r" b="b"/>
              <a:pathLst>
                <a:path w="3236559" h="370733">
                  <a:moveTo>
                    <a:pt x="3236559" y="370733"/>
                  </a:moveTo>
                  <a:lnTo>
                    <a:pt x="0" y="370733"/>
                  </a:lnTo>
                  <a:lnTo>
                    <a:pt x="0" y="0"/>
                  </a:lnTo>
                  <a:lnTo>
                    <a:pt x="3236559" y="0"/>
                  </a:lnTo>
                  <a:lnTo>
                    <a:pt x="3236559" y="37073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07675" y="160191"/>
              <a:ext cx="3021208" cy="421084"/>
              <a:chOff x="0" y="0"/>
              <a:chExt cx="732470" cy="10208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32470" cy="102089"/>
              </a:xfrm>
              <a:custGeom>
                <a:avLst/>
                <a:gdLst/>
                <a:ahLst/>
                <a:cxnLst/>
                <a:rect l="l" t="t" r="r" b="b"/>
                <a:pathLst>
                  <a:path w="732470" h="102089">
                    <a:moveTo>
                      <a:pt x="0" y="0"/>
                    </a:moveTo>
                    <a:lnTo>
                      <a:pt x="732470" y="0"/>
                    </a:lnTo>
                    <a:lnTo>
                      <a:pt x="732470" y="102089"/>
                    </a:lnTo>
                    <a:lnTo>
                      <a:pt x="0" y="102089"/>
                    </a:lnTo>
                    <a:close/>
                  </a:path>
                </a:pathLst>
              </a:custGeom>
              <a:solidFill>
                <a:srgbClr val="E9ECF4"/>
              </a:solidFill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732470" cy="1401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008184" y="11025"/>
              <a:ext cx="1220190" cy="1243538"/>
              <a:chOff x="0" y="0"/>
              <a:chExt cx="797539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9753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7539" h="812800">
                    <a:moveTo>
                      <a:pt x="265990" y="793731"/>
                    </a:moveTo>
                    <a:cubicBezTo>
                      <a:pt x="306878" y="805245"/>
                      <a:pt x="353362" y="812800"/>
                      <a:pt x="398984" y="812800"/>
                    </a:cubicBezTo>
                    <a:cubicBezTo>
                      <a:pt x="444608" y="812800"/>
                      <a:pt x="488510" y="806323"/>
                      <a:pt x="528967" y="794809"/>
                    </a:cubicBezTo>
                    <a:cubicBezTo>
                      <a:pt x="529829" y="794450"/>
                      <a:pt x="530689" y="794450"/>
                      <a:pt x="531549" y="794090"/>
                    </a:cubicBezTo>
                    <a:cubicBezTo>
                      <a:pt x="683482" y="748035"/>
                      <a:pt x="795388" y="626421"/>
                      <a:pt x="797539" y="484298"/>
                    </a:cubicBezTo>
                    <a:lnTo>
                      <a:pt x="797539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2152" y="627140"/>
                      <a:pt x="112336" y="748755"/>
                      <a:pt x="265990" y="793731"/>
                    </a:cubicBezTo>
                    <a:close/>
                  </a:path>
                </a:pathLst>
              </a:custGeom>
              <a:solidFill>
                <a:srgbClr val="122359"/>
              </a:solidFill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797539" cy="723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339898" y="297945"/>
              <a:ext cx="556764" cy="555372"/>
            </a:xfrm>
            <a:custGeom>
              <a:avLst/>
              <a:gdLst/>
              <a:ahLst/>
              <a:cxnLst/>
              <a:rect l="l" t="t" r="r" b="b"/>
              <a:pathLst>
                <a:path w="556764" h="555372">
                  <a:moveTo>
                    <a:pt x="0" y="0"/>
                  </a:moveTo>
                  <a:lnTo>
                    <a:pt x="556763" y="0"/>
                  </a:lnTo>
                  <a:lnTo>
                    <a:pt x="556763" y="555372"/>
                  </a:lnTo>
                  <a:lnTo>
                    <a:pt x="0" y="555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718640" y="1870690"/>
            <a:ext cx="1285072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DM Sans Bold"/>
                <a:ea typeface="DM Sans Bold"/>
                <a:cs typeface="DM Sans Bold"/>
                <a:sym typeface="DM Sans Bold"/>
              </a:rPr>
              <a:t>Summary of GPT Usage in the Project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9900" y="3875058"/>
            <a:ext cx="14468200" cy="482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Through the Smart Campus Energy Management System project, ChatGPT was used as a support tool to enhance clarity, improve presentation quality, and assist with technical explanations. Specifically, it helped with: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Content Refinement: Transforming raw text into a more professional, concise, and suitable expression for PowerPoint presentations or reports.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Technical Explanation: Explaining the technologies involved in the project (e.g., model architecture, data processing workflows).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Summarization &amp; Rewriting: Summarizing, rewriting, and condensing long paragraphs for use in project descriptions, methodologies, and conclusions.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Presentation Support: Assisting in optimizing project structure descriptions, visual process narratives, and roadmap descriptions to better suit presentation needs.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Clarity &amp; Consistency: Ensuring logical coherence and consistent language in documents, enhancing overall professionalism.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85493" y="979785"/>
            <a:ext cx="3426020" cy="709930"/>
            <a:chOff x="0" y="0"/>
            <a:chExt cx="4568027" cy="9465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17" name="Freeform 17"/>
          <p:cNvSpPr/>
          <p:nvPr/>
        </p:nvSpPr>
        <p:spPr>
          <a:xfrm rot="3911469" flipH="1">
            <a:off x="15554798" y="-957879"/>
            <a:ext cx="8672703" cy="6883958"/>
          </a:xfrm>
          <a:custGeom>
            <a:avLst/>
            <a:gdLst/>
            <a:ahLst/>
            <a:cxnLst/>
            <a:rect l="l" t="t" r="r" b="b"/>
            <a:pathLst>
              <a:path w="8672703" h="6883958">
                <a:moveTo>
                  <a:pt x="8672703" y="0"/>
                </a:moveTo>
                <a:lnTo>
                  <a:pt x="0" y="0"/>
                </a:lnTo>
                <a:lnTo>
                  <a:pt x="0" y="6883958"/>
                </a:lnTo>
                <a:lnTo>
                  <a:pt x="8672703" y="6883958"/>
                </a:lnTo>
                <a:lnTo>
                  <a:pt x="8672703" y="0"/>
                </a:lnTo>
                <a:close/>
              </a:path>
            </a:pathLst>
          </a:custGeom>
          <a:blipFill>
            <a:blip r:embed="rId6">
              <a:alphaModFix amt="9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972050"/>
            <a:ext cx="6299384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426020" cy="709930"/>
            <a:chOff x="0" y="0"/>
            <a:chExt cx="4568027" cy="9465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02806" cy="946573"/>
            </a:xfrm>
            <a:custGeom>
              <a:avLst/>
              <a:gdLst/>
              <a:ahLst/>
              <a:cxnLst/>
              <a:rect l="l" t="t" r="r" b="b"/>
              <a:pathLst>
                <a:path w="1002806" h="946573">
                  <a:moveTo>
                    <a:pt x="0" y="0"/>
                  </a:moveTo>
                  <a:lnTo>
                    <a:pt x="1002806" y="0"/>
                  </a:lnTo>
                  <a:lnTo>
                    <a:pt x="1002806" y="946573"/>
                  </a:lnTo>
                  <a:lnTo>
                    <a:pt x="0" y="946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2593" y="196004"/>
              <a:ext cx="3455434" cy="47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1E1E1E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St. Clair College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-1215059">
            <a:off x="11099800" y="-1975748"/>
            <a:ext cx="10466775" cy="9401067"/>
          </a:xfrm>
          <a:custGeom>
            <a:avLst/>
            <a:gdLst/>
            <a:ahLst/>
            <a:cxnLst/>
            <a:rect l="l" t="t" r="r" b="b"/>
            <a:pathLst>
              <a:path w="10466775" h="9401067">
                <a:moveTo>
                  <a:pt x="0" y="0"/>
                </a:moveTo>
                <a:lnTo>
                  <a:pt x="10466775" y="0"/>
                </a:lnTo>
                <a:lnTo>
                  <a:pt x="10466775" y="9401066"/>
                </a:lnTo>
                <a:lnTo>
                  <a:pt x="0" y="94010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7" name="TextBox 7"/>
          <p:cNvSpPr txBox="1"/>
          <p:nvPr/>
        </p:nvSpPr>
        <p:spPr>
          <a:xfrm>
            <a:off x="1028700" y="7778115"/>
            <a:ext cx="241132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Group - 001</a:t>
            </a:r>
          </a:p>
          <a:p>
            <a:pPr algn="l">
              <a:lnSpc>
                <a:spcPts val="2940"/>
              </a:lnSpc>
            </a:pPr>
            <a:r>
              <a:rPr lang="en-US" sz="2100" i="1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Kayode Babalola</a:t>
            </a:r>
          </a:p>
          <a:p>
            <a:pPr algn="l">
              <a:lnSpc>
                <a:spcPts val="2940"/>
              </a:lnSpc>
            </a:pPr>
            <a:r>
              <a:rPr lang="en-US" sz="2100" i="1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Qianru Deng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1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Priyanka Sharma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Microsoft Macintosh PowerPoint</Application>
  <PresentationFormat>Custom</PresentationFormat>
  <Paragraphs>204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DM Sans Italics</vt:lpstr>
      <vt:lpstr>TT Fors Bold</vt:lpstr>
      <vt:lpstr>Canva Sans</vt:lpstr>
      <vt:lpstr>DM Sans</vt:lpstr>
      <vt:lpstr>Telegraf Bold</vt:lpstr>
      <vt:lpstr>Arial</vt:lpstr>
      <vt:lpstr>DM Sans Bold</vt:lpstr>
      <vt:lpstr>TT Fors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 Energy Management System</dc:title>
  <cp:lastModifiedBy>Qianru Deng</cp:lastModifiedBy>
  <cp:revision>3</cp:revision>
  <dcterms:created xsi:type="dcterms:W3CDTF">2006-08-16T00:00:00Z</dcterms:created>
  <dcterms:modified xsi:type="dcterms:W3CDTF">2025-11-22T21:32:13Z</dcterms:modified>
  <dc:identifier>DAG4hNQr6zM</dc:identifier>
</cp:coreProperties>
</file>